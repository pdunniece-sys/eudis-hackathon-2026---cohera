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9a3fffb-4ac7-18a5-45ef-e38503b8c641}">
          <p14:sldIdLst>
            <p14:sldId id="256"/>
          </p14:sldIdLst>
        </p14:section>
        <p14:section name="Problem" id="{a43d2acc-e430-ee46-f0b9-9d324dd56fb5}">
          <p14:sldIdLst>
            <p14:sldId id="257"/>
            <p14:sldId id="258"/>
            <p14:sldId id="259"/>
          </p14:sldIdLst>
        </p14:section>
        <p14:section name="Approach" id="{8b27a011-d413-0121-483d-8fb076fde1a2}">
          <p14:sldIdLst>
            <p14:sldId id="260"/>
            <p14:sldId id="261"/>
            <p14:sldId id="262"/>
            <p14:sldId id="263"/>
          </p14:sldIdLst>
        </p14:section>
        <p14:section name="Results" id="{6e8476e5-48c1-34d8-a515-cb6f606234c1}">
          <p14:sldIdLst>
            <p14:sldId id="264"/>
            <p14:sldId id="265"/>
            <p14:sldId id="266"/>
          </p14:sldIdLst>
        </p14:section>
        <p14:section name="Next" id="{86c67403-8eda-ea48-97c0-d8d4f112a039}">
          <p14:sldIdLst>
            <p14:sldId id="267"/>
            <p14:sldId id="268"/>
            <p14:sldId id="269"/>
          </p14:sldIdLst>
        </p14:section>
        <p14:section name="Backup" id="{a63b1280-dbb1-e67d-7d04-b5103a3ceb88}">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33A"/>
                </a:solidFill>
                <a:latin typeface="+mn-lt"/>
              </a:defRPr>
            </a:pPr>
            <a:r>
              <a:rPr sz="1300" b="0" i="0" u="none" strike="noStrike">
                <a:solidFill>
                  <a:srgbClr val="13233A"/>
                </a:solidFill>
                <a:latin typeface="+mn-lt"/>
              </a:rPr>
              <a:t>Field wander vs the signal we navigate on (nT)</a:t>
            </a:r>
          </a:p>
        </c:rich>
      </c:tx>
      <c:layout/>
      <c:overlay val="0"/>
    </c:title>
    <c:autoTitleDeleted val="0"/>
    <c:plotArea>
      <c:layout/>
      <c:barChart>
        <c:barDir val="bar"/>
        <c:grouping val="clustered"/>
        <c:varyColors val="0"/>
        <c:ser>
          <c:idx val="0"/>
          <c:order val="0"/>
          <c:tx>
            <c:strRef>
              <c:f>Sheet1!$B$1</c:f>
              <c:strCache>
                <c:ptCount val="1"/>
                <c:pt idx="0">
                  <c:v>nT</c:v>
                </c:pt>
              </c:strCache>
            </c:strRef>
          </c:tx>
          <c:spPr>
            <a:solidFill>
              <a:srgbClr val="9C3A2E"/>
            </a:solidFill>
            <a:effectLst/>
          </c:spPr>
          <c:invertIfNegative val="0"/>
          <c:dLbls>
            <c:numFmt formatCode="#,##0" sourceLinked="0"/>
            <c:txPr>
              <a:bodyPr/>
              <a:lstStyle/>
              <a:p>
                <a:pPr>
                  <a:defRPr b="0" i="0" strike="noStrike" sz="1200" u="none">
                    <a:solidFill>
                      <a:srgbClr val="13233A"/>
                    </a:solidFill>
                    <a:latin typeface="+mn-lt"/>
                  </a:defRPr>
                </a:pPr>
              </a:p>
            </c:txPr>
            <c:showLegendKey val="0"/>
            <c:showVal val="1"/>
            <c:showCatName val="0"/>
            <c:showSerName val="0"/>
            <c:showPercent val="0"/>
            <c:showBubbleSize val="0"/>
            <c:showLeaderLines val="0"/>
          </c:dLbls>
          <c:dPt>
            <c:idx val="0"/>
            <c:invertIfNegative val="0"/>
            <c:bubble3D val="0"/>
            <c:spPr>
              <a:solidFill>
                <a:srgbClr val="9C3A2E"/>
              </a:solidFill>
              <a:effectLst/>
            </c:spPr>
          </c:dPt>
          <c:dPt>
            <c:idx val="1"/>
            <c:invertIfNegative val="0"/>
            <c:bubble3D val="0"/>
            <c:spPr>
              <a:solidFill>
                <a:srgbClr val="9C3A2E"/>
              </a:solidFill>
              <a:effectLst/>
            </c:spPr>
          </c:dPt>
          <c:dPt>
            <c:idx val="2"/>
            <c:invertIfNegative val="0"/>
            <c:bubble3D val="0"/>
            <c:spPr>
              <a:solidFill>
                <a:srgbClr val="C47F17"/>
              </a:solidFill>
              <a:effectLst/>
            </c:spPr>
          </c:dPt>
          <c:dPt>
            <c:idx val="3"/>
            <c:invertIfNegative val="0"/>
            <c:bubble3D val="0"/>
            <c:spPr>
              <a:solidFill>
                <a:srgbClr val="13233A"/>
              </a:solidFill>
              <a:effectLst/>
            </c:spPr>
          </c:dPt>
          <c:cat>
            <c:multiLvlStrRef>
              <c:f>Sheet1!$A$2:$A$5</c:f>
              <c:multiLvlStrCache>
                <c:ptCount val="4"/>
                <c:lvl>
                  <c:pt idx="0">
                    <c:v>Our X500's compass in flight (400–1,000)</c:v>
                  </c:pt>
                  <c:pt idx="1">
                    <c:v>Vector magnetometer, same flight</c:v>
                  </c:pt>
                  <c:pt idx="2">
                    <c:v>Quantum OPM, same flight</c:v>
                  </c:pt>
                  <c:pt idx="3">
                    <c:v>Typical Tellus anomaly (the signal)</c:v>
                  </c:pt>
                </c:lvl>
              </c:multiLvlStrCache>
            </c:multiLvlStrRef>
          </c:cat>
          <c:val>
            <c:numRef>
              <c:f>Sheet1!$B$2:$B$5</c:f>
              <c:numCache>
                <c:formatCode>General</c:formatCode>
                <c:ptCount val="4"/>
                <c:pt idx="0">
                  <c:v>1000</c:v>
                </c:pt>
                <c:pt idx="1">
                  <c:v>884</c:v>
                </c:pt>
                <c:pt idx="2">
                  <c:v>79</c:v>
                </c:pt>
                <c:pt idx="3">
                  <c:v>100</c:v>
                </c:pt>
              </c:numCache>
            </c:numRef>
          </c:val>
        </c:ser>
        <c:dLbls>
          <c:numFmt formatCode="#,##0" sourceLinked="0"/>
          <c:txPr>
            <a:bodyPr/>
            <a:lstStyle/>
            <a:p>
              <a:pPr>
                <a:defRPr b="0" i="0" strike="noStrike" sz="1200" u="none">
                  <a:solidFill>
                    <a:srgbClr val="13233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3233A"/>
                </a:solidFill>
                <a:latin typeface="+mn-lt"/>
              </a:defRPr>
            </a:pPr>
            <a:endParaRPr lang="en-US"/>
          </a:p>
        </c:txPr>
        <c:crossAx val="2094734552"/>
        <c:crosses val="autoZero"/>
        <c:auto val="1"/>
        <c:lblAlgn val="ctr"/>
        <c:noMultiLvlLbl val="1"/>
      </c:catAx>
      <c:valAx>
        <c:axId val="2094734552"/>
        <c:scaling>
          <c:orientation val="minMax"/>
          <c:max val="115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ECE6D8"/>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in one line: when GPS is jammed, drones get lost. We built navigation that reads Ireland's own magnetic map with a quantum sensor. ~10 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Jamming is not hypothetical: 123,000 Baltic flights in four months; 1,500 flights a day worldwide. Airliners have backups; small drones lose their mission. Sources: SVT/ICAO report via Travel Tomorrow (Sep 2025); Irish Times 29 Jun 2026 citing IATA.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Ireland's sea is ten times its land. Three-quarters of transatlantic cables pass nearby; Yantar has been escorted out of the Irish Sea; unidentified drones flew around Zelenskyy's arrival in Dublin (Dec 2025). Ireland needs cheap persistent uncrewed patrol, which is exactly where GNSS will be jammed.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other backup is defeated by the sea or by Irish weather. The magnetic anomaly field is fixed to the rock, needs no line of sight, and the sensor emits nothing. Northrop/SandboxAQ make the same point about open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The INS drifts; the quantum sensor reads the field; the particle filter keeps thousands of guesses of the drift and scores each one against the Tellus map; the survivors give a position with an error bar. The figure is an illustration on a synthetic map - swap for the A7 run once it's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argument, from our own data. The drone's built-in compasses wander 400-1,000 nT in flight; on the QuSpin flight data the vector channel wandered 884 nT while the scalar OPM wandered 79 nT. Tellus anomalies are tens to hundreds of nT, so a normal compass can't see them. The OPM measures field strength as a frequency, 7 Hz per nT, so tilting the drone doesn't fool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about 1 W denies GPS at 10 km; about 3 TW is needed to disturb MagNav at 10 km. B falls as 1/r^3 so power scales as r^6. The only real threat is within tens of metres - the same platform-interference problem we already measure and compensate. These are our own order-of-magnitude estimates, not a threat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Ireland is one of the few countries with a complete detailed national airborne magnetic survey, and it is free. A navigation map normally costs a survey campaign; ours is already flown. Offshore coverage is coarser (EMAG2) - an honest gap, and an opportunity to extend Tellus offshore as INFOMAR did for the seabed. Source: gov.ie press release, 24 Jun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from COH-16 (scripts/run_pf_demo.py, outputs/pf_headline.png). Say the number once, slowly. Mention that the readings come from a different, degraded map than the one the filter uses, so it isn't checking the map against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'is it only a simulation?' before they ask. Fill each result from COH-28, COH-29 and COH-31. If one isn't ready, replace its result with 'in progress' rather than leaving a bracket.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is scored: show it. Everything after the 'EVENT BEGIN COMMIT' (0de38ff) was built here: filter, flights, mounts, the Moose. Quote one number from the before/after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that the method works, from the biggest names, all in the last few weeks. All are US or Australian and on large platforms. Our angle: European, open map, small drones. Sources: Northrop Grumman release 9 Sep 2026; DefenseScoop 8 Sep 2026; arXiv:2504.08167.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ask. Concrete, small, and something the people in the room can say yes to. Check the roadmap wording with the commercial mentor (COH-59/COH-67).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Repeat the one line. Take questions; backup slides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 judge asks what is simulated. The honest one-liner: the drone, the logs and the QTFM data are real; the QTFM on our drone is emulated from real data until we have a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is it quantum?': discrete energy levels, photons transferring exactly one unit of angular momentum, a coherent superposition whose phase winds at the Larmor frequency, and a sensitivity limit set by quantum projection noise. See opm_explained.pdf.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 an owner per question (COH-61). Keep each answer to one breath.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H_CONTENT">
    <p:bg>
      <p:bgPr>
        <a:solidFill>
          <a:schemeClr val="bg1"/>
        </a:solidFill>
      </p:bgPr>
    </p:bg>
    <p:spTree>
      <p:nvGrpSpPr>
        <p:cNvPr id="1" name=""/>
        <p:cNvGrpSpPr/>
        <p:nvPr/>
      </p:nvGrpSpPr>
      <p:grpSpPr>
        <a:xfrm>
          <a:off x="0" y="0"/>
          <a:ext cx="0" cy="0"/>
          <a:chOff x="0" y="0"/>
          <a:chExt cx="0" cy="0"/>
        </a:xfrm>
      </p:grpSpPr>
      <p:pic>
        <p:nvPicPr>
          <p:cNvPr id="2" name="Image 0" descr="/tmp/claude-0/-home-claude/db79777d-d733-5547-bcd2-6143ee6bb461/scratchpad/deck/assets/emblem-icon.png">    </p:cNvPr>
          <p:cNvPicPr>
            <a:picLocks noChangeAspect="1"/>
          </p:cNvPicPr>
          <p:nvPr/>
        </p:nvPicPr>
        <p:blipFill>
          <a:blip r:embed="rId1"/>
          <a:stretch>
            <a:fillRect/>
          </a:stretch>
        </p:blipFill>
        <p:spPr>
          <a:xfrm>
            <a:off x="758952" y="384048"/>
            <a:ext cx="329184" cy="329184"/>
          </a:xfrm>
          <a:prstGeom prst="rect">
            <a:avLst/>
          </a:prstGeom>
        </p:spPr>
      </p:pic>
      <p:pic>
        <p:nvPicPr>
          <p:cNvPr id="3" name="Image 1" descr="/tmp/claude-0/-home-claude/db79777d-d733-5547-bcd2-6143ee6bb461/scratchpad/deck/assets/lockup-light.png">    </p:cNvPr>
          <p:cNvPicPr>
            <a:picLocks noChangeAspect="1"/>
          </p:cNvPicPr>
          <p:nvPr/>
        </p:nvPicPr>
        <p:blipFill>
          <a:blip r:embed="rId2"/>
          <a:stretch>
            <a:fillRect/>
          </a:stretch>
        </p:blipFill>
        <p:spPr>
          <a:xfrm>
            <a:off x="1170432" y="425196"/>
            <a:ext cx="1175754" cy="246888"/>
          </a:xfrm>
          <a:prstGeom prst="rect">
            <a:avLst/>
          </a:prstGeom>
        </p:spPr>
      </p:pic>
      <p:sp>
        <p:nvSpPr>
          <p:cNvPr id="4" name="Shape 0"/>
          <p:cNvSpPr/>
          <p:nvPr/>
        </p:nvSpPr>
        <p:spPr>
          <a:xfrm>
            <a:off x="758952" y="896112"/>
            <a:ext cx="10671048" cy="0"/>
          </a:xfrm>
          <a:prstGeom prst="line">
            <a:avLst/>
          </a:prstGeom>
          <a:noFill/>
          <a:ln w="19050">
            <a:solidFill>
              <a:schemeClr val="accent5"/>
            </a:solidFill>
            <a:prstDash val="solid"/>
          </a:ln>
        </p:spPr>
      </p:sp>
      <p:sp>
        <p:nvSpPr>
          <p:cNvPr id="5" name="Text 1"/>
          <p:cNvSpPr txBox="1"/>
          <p:nvPr/>
        </p:nvSpPr>
        <p:spPr>
          <a:xfrm>
            <a:off x="758952" y="6382512"/>
            <a:ext cx="8229600" cy="274320"/>
          </a:xfrm>
          <a:prstGeom prst="rect">
            <a:avLst/>
          </a:prstGeom>
          <a:noFill/>
          <a:ln/>
        </p:spPr>
        <p:txBody>
          <a:bodyPr wrap="square" lIns="0" tIns="0" rIns="0" bIns="0" rtlCol="0" anchor="ctr"/>
          <a:lstStyle/>
          <a:p>
            <a:pPr indent="0" marL="0">
              <a:buNone/>
            </a:pPr>
            <a:r>
              <a:rPr lang="en-US" sz="900" dirty="0">
                <a:solidFill>
                  <a:schemeClr val="tx2"/>
                </a:solidFill>
              </a:rPr>
              <a:t>Contains Irish Public Sector Data (Geological Survey Ireland) licensed under CC BY 4.0.</a:t>
            </a:r>
            <a:endParaRPr lang="en-US" sz="900" dirty="0"/>
          </a:p>
        </p:txBody>
      </p:sp>
      <p:sp>
        <p:nvSpPr>
          <p:cNvPr id="6" name="Text 2"/>
          <p:cNvSpPr/>
          <p:nvPr>
            <p:ph idx="104" type="body" hasCustomPrompt="1"/>
          </p:nvPr>
        </p:nvSpPr>
        <p:spPr>
          <a:xfrm>
            <a:off x="6858000" y="402336"/>
            <a:ext cx="4572000" cy="310896"/>
          </a:xfrm>
          <a:prstGeom prst="rect">
            <a:avLst/>
          </a:prstGeom>
          <a:noFill/>
          <a:ln/>
        </p:spPr>
        <p:txBody>
          <a:bodyPr wrap="square" rtlCol="0"/>
          <a:lstStyle>
            <a:lvl1pPr algn="r" indent="0" marL="0">
              <a:buNone/>
              <a:defRPr lang="en-US" sz="1000" spc="300" kern="0" dirty="0">
                <a:solidFill>
                  <a:schemeClr val="tx2"/>
                </a:solidFill>
                <a:latin typeface="IBM Plex Mono" pitchFamily="34" charset="0"/>
                <a:ea typeface="IBM Plex Mono" pitchFamily="34" charset="-122"/>
                <a:cs typeface="IBM Plex Mono" pitchFamily="34" charset="-120"/>
              </a:defRPr>
            </a:lvl1pPr>
          </a:lstStyle>
          <a:p>
            <a:pPr algn="r" indent="0" marL="0">
              <a:buNone/>
            </a:pPr>
            <a:r>
              <a:rPr lang="en-US" sz="1000" spc="300" kern="0" dirty="0">
                <a:solidFill>
                  <a:schemeClr val="tx2"/>
                </a:solidFill>
                <a:latin typeface="IBM Plex Mono" pitchFamily="34" charset="0"/>
                <a:ea typeface="IBM Plex Mono" pitchFamily="34" charset="-122"/>
                <a:cs typeface="IBM Plex Mono" pitchFamily="34" charset="-120"/>
              </a:rPr>
              <a:t>SECTION</a:t>
            </a:r>
            <a:endParaRPr lang="en-US" sz="1000" dirty="0"/>
          </a:p>
        </p:txBody>
      </p:sp>
      <p:sp>
        <p:nvSpPr>
          <p:cNvPr id="7" name="Text 2"/>
          <p:cNvSpPr/>
          <p:nvPr>
            <p:ph idx="105" type="title" hasCustomPrompt="1"/>
          </p:nvPr>
        </p:nvSpPr>
        <p:spPr>
          <a:xfrm>
            <a:off x="758952" y="1078992"/>
            <a:ext cx="10671048" cy="749808"/>
          </a:xfrm>
          <a:prstGeom prst="rect">
            <a:avLst/>
          </a:prstGeom>
          <a:noFill/>
          <a:ln/>
        </p:spPr>
        <p:txBody>
          <a:bodyPr wrap="square" rtlCol="0"/>
          <a:lstStyle>
            <a:lvl1pPr algn="l" indent="0" marL="0">
              <a:buNone/>
              <a:defRPr lang="en-US" sz="3200" b="1" dirty="0">
                <a:solidFill>
                  <a:schemeClr val="tx1"/>
                </a:solidFill>
                <a:latin typeface="Chakra Petch" pitchFamily="34" charset="0"/>
                <a:ea typeface="Chakra Petch" pitchFamily="34" charset="-122"/>
                <a:cs typeface="Chakra Petch" pitchFamily="34" charset="-120"/>
              </a:defRPr>
            </a:lvl1pPr>
          </a:lstStyle>
          <a:p>
            <a:pPr algn="l" indent="0" marL="0">
              <a:buNone/>
            </a:pPr>
            <a:r>
              <a:rPr lang="en-US" sz="3200" b="1" dirty="0">
                <a:solidFill>
                  <a:schemeClr val="tx1"/>
                </a:solidFill>
                <a:latin typeface="Chakra Petch" pitchFamily="34" charset="0"/>
                <a:ea typeface="Chakra Petch" pitchFamily="34" charset="-122"/>
                <a:cs typeface="Chakra Petch" pitchFamily="34" charset="-120"/>
              </a:rPr>
              <a:t>Slide title</a:t>
            </a:r>
            <a:endParaRPr lang="en-US" sz="3200" dirty="0"/>
          </a:p>
        </p:txBody>
      </p:sp>
      <p:sp>
        <p:nvSpPr>
          <p:cNvPr id="25" name="Slide Number Placeholder 0"/>
          <p:cNvSpPr>
            <a:spLocks noGrp="1"/>
          </p:cNvSpPr>
          <p:nvPr>
            <p:ph type="sldNum" sz="quarter" idx="4294967295"/>
          </p:nvPr>
        </p:nvSpPr>
        <p:spPr>
          <a:xfrm>
            <a:off x="11064240"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latin typeface="IBM Plex Mono"/>
                <a:ea typeface="IBM Plex Mono"/>
                <a:cs typeface="IBM Plex Mon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H_TITLE">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H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latin typeface="IBM Plex Mono"/>
                <a:ea typeface="IBM Plex Mono"/>
                <a:cs typeface="IBM Plex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emblem" descr="/tmp/claude-0/-home-claude/db79777d-d733-5547-bcd2-6143ee6bb461/scratchpad/deck/assets/emblem-full.png">    </p:cNvPr>
          <p:cNvPicPr>
            <a:picLocks noChangeAspect="1"/>
          </p:cNvPicPr>
          <p:nvPr/>
        </p:nvPicPr>
        <p:blipFill>
          <a:blip r:embed="rId1"/>
          <a:stretch>
            <a:fillRect/>
          </a:stretch>
        </p:blipFill>
        <p:spPr>
          <a:xfrm>
            <a:off x="868680" y="1325880"/>
            <a:ext cx="3749040" cy="3749040"/>
          </a:xfrm>
          <a:prstGeom prst="rect">
            <a:avLst/>
          </a:prstGeom>
        </p:spPr>
      </p:pic>
      <p:pic>
        <p:nvPicPr>
          <p:cNvPr id="3" name="lockup" descr="/tmp/claude-0/-home-claude/db79777d-d733-5547-bcd2-6143ee6bb461/scratchpad/deck/assets/lockup-tag-light.png">    </p:cNvPr>
          <p:cNvPicPr>
            <a:picLocks noChangeAspect="1"/>
          </p:cNvPicPr>
          <p:nvPr/>
        </p:nvPicPr>
        <p:blipFill>
          <a:blip r:embed="rId2"/>
          <a:stretch>
            <a:fillRect/>
          </a:stretch>
        </p:blipFill>
        <p:spPr>
          <a:xfrm>
            <a:off x="5257800" y="1600200"/>
            <a:ext cx="6035040" cy="1859332"/>
          </a:xfrm>
          <a:prstGeom prst="rect">
            <a:avLst/>
          </a:prstGeom>
        </p:spPr>
      </p:pic>
      <p:sp>
        <p:nvSpPr>
          <p:cNvPr id="4" name="tagline"/>
          <p:cNvSpPr txBox="1"/>
          <p:nvPr/>
        </p:nvSpPr>
        <p:spPr>
          <a:xfrm>
            <a:off x="5440680" y="3703320"/>
            <a:ext cx="5852160" cy="1097280"/>
          </a:xfrm>
          <a:prstGeom prst="rect">
            <a:avLst/>
          </a:prstGeom>
          <a:noFill/>
          <a:ln/>
        </p:spPr>
        <p:txBody>
          <a:bodyPr wrap="square" lIns="0" tIns="0" rIns="0" bIns="0" rtlCol="0" anchor="t"/>
          <a:lstStyle/>
          <a:p>
            <a:pPr indent="0" marL="0">
              <a:buNone/>
            </a:pPr>
            <a:r>
              <a:rPr lang="en-US" sz="2200" dirty="0">
                <a:solidFill>
                  <a:schemeClr val="tx1"/>
                </a:solidFill>
              </a:rPr>
              <a:t>Navigation that keeps working when GNSS is jammed, spoofed or simply absent.</a:t>
            </a:r>
            <a:endParaRPr lang="en-US" sz="2200" dirty="0"/>
          </a:p>
        </p:txBody>
      </p:sp>
      <p:sp>
        <p:nvSpPr>
          <p:cNvPr id="5" name="team"/>
          <p:cNvSpPr txBox="1"/>
          <p:nvPr/>
        </p:nvSpPr>
        <p:spPr>
          <a:xfrm>
            <a:off x="868680" y="5806440"/>
            <a:ext cx="7315200" cy="292608"/>
          </a:xfrm>
          <a:prstGeom prst="rect">
            <a:avLst/>
          </a:prstGeom>
          <a:noFill/>
          <a:ln/>
        </p:spPr>
        <p:txBody>
          <a:bodyPr wrap="square" lIns="0" tIns="0" rIns="0" bIns="0" rtlCol="0" anchor="ctr"/>
          <a:lstStyle/>
          <a:p>
            <a:pPr indent="0" marL="0">
              <a:buNone/>
            </a:pPr>
            <a:r>
              <a:rPr lang="en-US" sz="1050" spc="200" kern="0" dirty="0">
                <a:solidFill>
                  <a:schemeClr val="tx1"/>
                </a:solidFill>
                <a:latin typeface="IBM Plex Mono" pitchFamily="34" charset="0"/>
                <a:ea typeface="IBM Plex Mono" pitchFamily="34" charset="-122"/>
                <a:cs typeface="IBM Plex Mono" pitchFamily="34" charset="-120"/>
              </a:rPr>
              <a:t>PETER DUNNIECE · ALEXANDER O'SULLIVAN · LORCAN GRIMES</a:t>
            </a:r>
            <a:endParaRPr lang="en-US" sz="1050" dirty="0"/>
          </a:p>
        </p:txBody>
      </p:sp>
      <p:sp>
        <p:nvSpPr>
          <p:cNvPr id="6" name="event"/>
          <p:cNvSpPr txBox="1"/>
          <p:nvPr/>
        </p:nvSpPr>
        <p:spPr>
          <a:xfrm>
            <a:off x="868680" y="6126480"/>
            <a:ext cx="9144000" cy="292608"/>
          </a:xfrm>
          <a:prstGeom prst="rect">
            <a:avLst/>
          </a:prstGeom>
          <a:noFill/>
          <a:ln/>
        </p:spPr>
        <p:txBody>
          <a:bodyPr wrap="square" lIns="0" tIns="0" rIns="0" bIns="0" rtlCol="0" anchor="ctr"/>
          <a:lstStyle/>
          <a:p>
            <a:pPr indent="0" marL="0">
              <a:buNone/>
            </a:pPr>
            <a:r>
              <a:rPr lang="en-US" sz="1050" spc="200" kern="0" dirty="0">
                <a:solidFill>
                  <a:schemeClr val="tx2"/>
                </a:solidFill>
                <a:latin typeface="IBM Plex Mono" pitchFamily="34" charset="0"/>
                <a:ea typeface="IBM Plex Mono" pitchFamily="34" charset="-122"/>
                <a:cs typeface="IBM Plex Mono" pitchFamily="34" charset="-120"/>
              </a:rPr>
              <a:t>EUDIS DEFENCE HACKATHON 2026 · DUBLIN · CHALLENGE 1: NAVIGATION WITHOUT GNSS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4" type="body" hasCustomPrompt="1"/>
          </p:nvPr>
        </p:nvSpPr>
        <p:spPr>
          <a:xfrm>
            <a:off x="6858000" y="402336"/>
            <a:ext cx="4572000" cy="310896"/>
          </a:xfrm>
          <a:prstGeom prst="rect">
            <a:avLst/>
          </a:prstGeom>
          <a:noFill/>
          <a:ln/>
        </p:spPr>
        <p:txBody>
          <a:bodyPr wrap="square" lIns="0" tIns="0" rIns="0" bIns="0" rtlCol="0" anchor="ctr"/>
          <a:lstStyle/>
          <a:p>
            <a:pPr algn="r" indent="0" marL="0">
              <a:buNone/>
            </a:pPr>
            <a:r>
              <a:rPr lang="en-US" sz="1000" spc="300" kern="0" dirty="0">
                <a:solidFill>
                  <a:schemeClr val="tx2"/>
                </a:solidFill>
                <a:latin typeface="IBM Plex Mono" pitchFamily="34" charset="0"/>
                <a:ea typeface="IBM Plex Mono" pitchFamily="34" charset="-122"/>
                <a:cs typeface="IBM Plex Mono" pitchFamily="34" charset="-120"/>
              </a:rPr>
              <a:t>THE PROBLEM</a:t>
            </a:r>
            <a:endParaRPr lang="en-US" sz="1000" dirty="0"/>
          </a:p>
        </p:txBody>
      </p:sp>
      <p:sp>
        <p:nvSpPr>
          <p:cNvPr id="3" name="Text 2"/>
          <p:cNvSpPr/>
          <p:nvPr>
            <p:ph idx="105" type="title" hasCustomPrompt="1"/>
          </p:nvPr>
        </p:nvSpPr>
        <p:spPr>
          <a:xfrm>
            <a:off x="758952" y="1078992"/>
            <a:ext cx="10671048" cy="749808"/>
          </a:xfrm>
          <a:prstGeom prst="rect">
            <a:avLst/>
          </a:prstGeom>
          <a:noFill/>
          <a:ln/>
        </p:spPr>
        <p:txBody>
          <a:bodyPr wrap="square" lIns="0" tIns="0" rIns="0" bIns="0" rtlCol="0" anchor="t"/>
          <a:lstStyle/>
          <a:p>
            <a:pPr algn="l" indent="0" marL="0">
              <a:buNone/>
            </a:pPr>
            <a:r>
              <a:rPr lang="en-US" sz="3200" b="1" dirty="0">
                <a:solidFill>
                  <a:schemeClr val="tx1"/>
                </a:solidFill>
                <a:latin typeface="Chakra Petch" pitchFamily="34" charset="0"/>
                <a:ea typeface="Chakra Petch" pitchFamily="34" charset="-122"/>
                <a:cs typeface="Chakra Petch" pitchFamily="34" charset="-120"/>
              </a:rPr>
              <a:t>GNSS jamming is now routine</a:t>
            </a:r>
            <a:endParaRPr lang="en-US" sz="3200" dirty="0"/>
          </a:p>
        </p:txBody>
      </p:sp>
      <p:sp>
        <p:nvSpPr>
          <p:cNvPr id="4" name="stat card 1"/>
          <p:cNvSpPr/>
          <p:nvPr/>
        </p:nvSpPr>
        <p:spPr>
          <a:xfrm>
            <a:off x="758952" y="2194560"/>
            <a:ext cx="3291840" cy="2743200"/>
          </a:xfrm>
          <a:prstGeom prst="roundRect">
            <a:avLst>
              <a:gd name="adj" fmla="val 2000"/>
            </a:avLst>
          </a:prstGeom>
          <a:solidFill>
            <a:schemeClr val="bg2"/>
          </a:solidFill>
          <a:ln w="12700">
            <a:solidFill>
              <a:schemeClr val="accent5"/>
            </a:solidFill>
            <a:prstDash val="solid"/>
          </a:ln>
        </p:spPr>
      </p:sp>
      <p:sp>
        <p:nvSpPr>
          <p:cNvPr id="5" name="stat value"/>
          <p:cNvSpPr txBox="1"/>
          <p:nvPr/>
        </p:nvSpPr>
        <p:spPr>
          <a:xfrm>
            <a:off x="1033272" y="2514600"/>
            <a:ext cx="2743200" cy="822960"/>
          </a:xfrm>
          <a:prstGeom prst="rect">
            <a:avLst/>
          </a:prstGeom>
          <a:noFill/>
          <a:ln/>
        </p:spPr>
        <p:txBody>
          <a:bodyPr wrap="square" lIns="0" tIns="0" rIns="0" bIns="0" rtlCol="0" anchor="b"/>
          <a:lstStyle/>
          <a:p>
            <a:pPr indent="0" marL="0">
              <a:buNone/>
            </a:pPr>
            <a:r>
              <a:rPr lang="en-US" sz="4600" b="1" dirty="0">
                <a:solidFill>
                  <a:schemeClr val="tx1"/>
                </a:solidFill>
                <a:latin typeface="Chakra Petch" pitchFamily="34" charset="0"/>
                <a:ea typeface="Chakra Petch" pitchFamily="34" charset="-122"/>
                <a:cs typeface="Chakra Petch" pitchFamily="34" charset="-120"/>
              </a:rPr>
              <a:t>123,000</a:t>
            </a:r>
            <a:endParaRPr lang="en-US" sz="4600" dirty="0"/>
          </a:p>
        </p:txBody>
      </p:sp>
      <p:sp>
        <p:nvSpPr>
          <p:cNvPr id="6" name="stat label"/>
          <p:cNvSpPr txBox="1"/>
          <p:nvPr/>
        </p:nvSpPr>
        <p:spPr>
          <a:xfrm>
            <a:off x="1033272" y="3410712"/>
            <a:ext cx="2743200" cy="960120"/>
          </a:xfrm>
          <a:prstGeom prst="rect">
            <a:avLst/>
          </a:prstGeom>
          <a:noFill/>
          <a:ln/>
        </p:spPr>
        <p:txBody>
          <a:bodyPr wrap="square" lIns="0" tIns="0" rIns="0" bIns="0" rtlCol="0" anchor="t"/>
          <a:lstStyle/>
          <a:p>
            <a:pPr indent="0" marL="0">
              <a:buNone/>
            </a:pPr>
            <a:r>
              <a:rPr lang="en-US" sz="1500" dirty="0">
                <a:solidFill>
                  <a:schemeClr val="tx1"/>
                </a:solidFill>
              </a:rPr>
              <a:t>flights hit by GNSS interference over the Baltic in four months</a:t>
            </a:r>
            <a:endParaRPr lang="en-US" sz="1500" dirty="0"/>
          </a:p>
        </p:txBody>
      </p:sp>
      <p:sp>
        <p:nvSpPr>
          <p:cNvPr id="7" name="stat source"/>
          <p:cNvSpPr txBox="1"/>
          <p:nvPr/>
        </p:nvSpPr>
        <p:spPr>
          <a:xfrm>
            <a:off x="1033272" y="4370832"/>
            <a:ext cx="2743200" cy="274320"/>
          </a:xfrm>
          <a:prstGeom prst="rect">
            <a:avLst/>
          </a:prstGeom>
          <a:noFill/>
          <a:ln/>
        </p:spPr>
        <p:txBody>
          <a:bodyPr wrap="square" lIns="0" tIns="0" rIns="0" bIns="0" rtlCol="0" anchor="t"/>
          <a:lstStyle/>
          <a:p>
            <a:pPr indent="0" marL="0">
              <a:buNone/>
            </a:pPr>
            <a:r>
              <a:rPr lang="en-US" sz="1000" dirty="0">
                <a:solidFill>
                  <a:schemeClr val="tx2"/>
                </a:solidFill>
              </a:rPr>
              <a:t>Report to ICAO, Jan–Apr 2025</a:t>
            </a:r>
            <a:endParaRPr lang="en-US" sz="1000" dirty="0"/>
          </a:p>
        </p:txBody>
      </p:sp>
      <p:sp>
        <p:nvSpPr>
          <p:cNvPr id="8" name="stat card 2"/>
          <p:cNvSpPr/>
          <p:nvPr/>
        </p:nvSpPr>
        <p:spPr>
          <a:xfrm>
            <a:off x="4443984" y="2194560"/>
            <a:ext cx="3291840" cy="2743200"/>
          </a:xfrm>
          <a:prstGeom prst="roundRect">
            <a:avLst>
              <a:gd name="adj" fmla="val 2000"/>
            </a:avLst>
          </a:prstGeom>
          <a:solidFill>
            <a:schemeClr val="bg2"/>
          </a:solidFill>
          <a:ln w="12700">
            <a:solidFill>
              <a:schemeClr val="accent5"/>
            </a:solidFill>
            <a:prstDash val="solid"/>
          </a:ln>
        </p:spPr>
      </p:sp>
      <p:sp>
        <p:nvSpPr>
          <p:cNvPr id="9" name="stat value"/>
          <p:cNvSpPr txBox="1"/>
          <p:nvPr/>
        </p:nvSpPr>
        <p:spPr>
          <a:xfrm>
            <a:off x="4718304" y="2514600"/>
            <a:ext cx="2743200" cy="822960"/>
          </a:xfrm>
          <a:prstGeom prst="rect">
            <a:avLst/>
          </a:prstGeom>
          <a:noFill/>
          <a:ln/>
        </p:spPr>
        <p:txBody>
          <a:bodyPr wrap="square" lIns="0" tIns="0" rIns="0" bIns="0" rtlCol="0" anchor="b"/>
          <a:lstStyle/>
          <a:p>
            <a:pPr indent="0" marL="0">
              <a:buNone/>
            </a:pPr>
            <a:r>
              <a:rPr lang="en-US" sz="4600" b="1" dirty="0">
                <a:solidFill>
                  <a:schemeClr val="tx1"/>
                </a:solidFill>
                <a:latin typeface="Chakra Petch" pitchFamily="34" charset="0"/>
                <a:ea typeface="Chakra Petch" pitchFamily="34" charset="-122"/>
                <a:cs typeface="Chakra Petch" pitchFamily="34" charset="-120"/>
              </a:rPr>
              <a:t>~1,500</a:t>
            </a:r>
            <a:endParaRPr lang="en-US" sz="4600" dirty="0"/>
          </a:p>
        </p:txBody>
      </p:sp>
      <p:sp>
        <p:nvSpPr>
          <p:cNvPr id="10" name="stat label"/>
          <p:cNvSpPr txBox="1"/>
          <p:nvPr/>
        </p:nvSpPr>
        <p:spPr>
          <a:xfrm>
            <a:off x="4718304" y="3410712"/>
            <a:ext cx="2743200" cy="960120"/>
          </a:xfrm>
          <a:prstGeom prst="rect">
            <a:avLst/>
          </a:prstGeom>
          <a:noFill/>
          <a:ln/>
        </p:spPr>
        <p:txBody>
          <a:bodyPr wrap="square" lIns="0" tIns="0" rIns="0" bIns="0" rtlCol="0" anchor="t"/>
          <a:lstStyle/>
          <a:p>
            <a:pPr indent="0" marL="0">
              <a:buNone/>
            </a:pPr>
            <a:r>
              <a:rPr lang="en-US" sz="1500" dirty="0">
                <a:solidFill>
                  <a:schemeClr val="tx1"/>
                </a:solidFill>
              </a:rPr>
              <a:t>flights a day experience some form of GPS jamming</a:t>
            </a:r>
            <a:endParaRPr lang="en-US" sz="1500" dirty="0"/>
          </a:p>
        </p:txBody>
      </p:sp>
      <p:sp>
        <p:nvSpPr>
          <p:cNvPr id="11" name="stat source"/>
          <p:cNvSpPr txBox="1"/>
          <p:nvPr/>
        </p:nvSpPr>
        <p:spPr>
          <a:xfrm>
            <a:off x="4718304" y="4370832"/>
            <a:ext cx="2743200" cy="274320"/>
          </a:xfrm>
          <a:prstGeom prst="rect">
            <a:avLst/>
          </a:prstGeom>
          <a:noFill/>
          <a:ln/>
        </p:spPr>
        <p:txBody>
          <a:bodyPr wrap="square" lIns="0" tIns="0" rIns="0" bIns="0" rtlCol="0" anchor="t"/>
          <a:lstStyle/>
          <a:p>
            <a:pPr indent="0" marL="0">
              <a:buNone/>
            </a:pPr>
            <a:r>
              <a:rPr lang="en-US" sz="1000" dirty="0">
                <a:solidFill>
                  <a:schemeClr val="tx2"/>
                </a:solidFill>
              </a:rPr>
              <a:t>IATA, via Irish Times, Jun 2026</a:t>
            </a:r>
            <a:endParaRPr lang="en-US" sz="1000" dirty="0"/>
          </a:p>
        </p:txBody>
      </p:sp>
      <p:sp>
        <p:nvSpPr>
          <p:cNvPr id="12" name="stat card 3"/>
          <p:cNvSpPr/>
          <p:nvPr/>
        </p:nvSpPr>
        <p:spPr>
          <a:xfrm>
            <a:off x="8129016" y="2194560"/>
            <a:ext cx="3291840" cy="2743200"/>
          </a:xfrm>
          <a:prstGeom prst="roundRect">
            <a:avLst>
              <a:gd name="adj" fmla="val 2000"/>
            </a:avLst>
          </a:prstGeom>
          <a:solidFill>
            <a:schemeClr val="bg2"/>
          </a:solidFill>
          <a:ln w="12700">
            <a:solidFill>
              <a:schemeClr val="accent5"/>
            </a:solidFill>
            <a:prstDash val="solid"/>
          </a:ln>
        </p:spPr>
      </p:sp>
      <p:sp>
        <p:nvSpPr>
          <p:cNvPr id="13" name="stat value"/>
          <p:cNvSpPr txBox="1"/>
          <p:nvPr/>
        </p:nvSpPr>
        <p:spPr>
          <a:xfrm>
            <a:off x="8403336" y="2514600"/>
            <a:ext cx="2743200" cy="822960"/>
          </a:xfrm>
          <a:prstGeom prst="rect">
            <a:avLst/>
          </a:prstGeom>
          <a:noFill/>
          <a:ln/>
        </p:spPr>
        <p:txBody>
          <a:bodyPr wrap="square" lIns="0" tIns="0" rIns="0" bIns="0" rtlCol="0" anchor="b"/>
          <a:lstStyle/>
          <a:p>
            <a:pPr indent="0" marL="0">
              <a:buNone/>
            </a:pPr>
            <a:r>
              <a:rPr lang="en-US" sz="4600" b="1" dirty="0">
                <a:solidFill>
                  <a:schemeClr val="tx1"/>
                </a:solidFill>
                <a:latin typeface="Chakra Petch" pitchFamily="34" charset="0"/>
                <a:ea typeface="Chakra Petch" pitchFamily="34" charset="-122"/>
                <a:cs typeface="Chakra Petch" pitchFamily="34" charset="-120"/>
              </a:rPr>
              <a:t>+193%</a:t>
            </a:r>
            <a:endParaRPr lang="en-US" sz="4600" dirty="0"/>
          </a:p>
        </p:txBody>
      </p:sp>
      <p:sp>
        <p:nvSpPr>
          <p:cNvPr id="14" name="stat label"/>
          <p:cNvSpPr txBox="1"/>
          <p:nvPr/>
        </p:nvSpPr>
        <p:spPr>
          <a:xfrm>
            <a:off x="8403336" y="3410712"/>
            <a:ext cx="2743200" cy="960120"/>
          </a:xfrm>
          <a:prstGeom prst="rect">
            <a:avLst/>
          </a:prstGeom>
          <a:noFill/>
          <a:ln/>
        </p:spPr>
        <p:txBody>
          <a:bodyPr wrap="square" lIns="0" tIns="0" rIns="0" bIns="0" rtlCol="0" anchor="t"/>
          <a:lstStyle/>
          <a:p>
            <a:pPr indent="0" marL="0">
              <a:buNone/>
            </a:pPr>
            <a:r>
              <a:rPr lang="en-US" sz="1500" dirty="0">
                <a:solidFill>
                  <a:schemeClr val="tx1"/>
                </a:solidFill>
              </a:rPr>
              <a:t>rise in GPS spoofing, 2023 to 2025 (jamming +67%)</a:t>
            </a:r>
            <a:endParaRPr lang="en-US" sz="1500" dirty="0"/>
          </a:p>
        </p:txBody>
      </p:sp>
      <p:sp>
        <p:nvSpPr>
          <p:cNvPr id="15" name="stat source"/>
          <p:cNvSpPr txBox="1"/>
          <p:nvPr/>
        </p:nvSpPr>
        <p:spPr>
          <a:xfrm>
            <a:off x="8403336" y="4370832"/>
            <a:ext cx="2743200" cy="274320"/>
          </a:xfrm>
          <a:prstGeom prst="rect">
            <a:avLst/>
          </a:prstGeom>
          <a:noFill/>
          <a:ln/>
        </p:spPr>
        <p:txBody>
          <a:bodyPr wrap="square" lIns="0" tIns="0" rIns="0" bIns="0" rtlCol="0" anchor="t"/>
          <a:lstStyle/>
          <a:p>
            <a:pPr indent="0" marL="0">
              <a:buNone/>
            </a:pPr>
            <a:r>
              <a:rPr lang="en-US" sz="1000" dirty="0">
                <a:solidFill>
                  <a:schemeClr val="tx2"/>
                </a:solidFill>
              </a:rPr>
              <a:t>IATA, via Irish Times, Jun 2026</a:t>
            </a:r>
            <a:endParaRPr lang="en-US" sz="1000" dirty="0"/>
          </a:p>
        </p:txBody>
      </p:sp>
      <p:sp>
        <p:nvSpPr>
          <p:cNvPr id="16" name="dot"/>
          <p:cNvSpPr/>
          <p:nvPr/>
        </p:nvSpPr>
        <p:spPr>
          <a:xfrm>
            <a:off x="758952" y="5458968"/>
            <a:ext cx="146304" cy="146304"/>
          </a:xfrm>
          <a:prstGeom prst="ellipse">
            <a:avLst/>
          </a:prstGeom>
          <a:solidFill>
            <a:schemeClr val="accent1"/>
          </a:solidFill>
          <a:ln/>
        </p:spPr>
      </p:sp>
      <p:sp>
        <p:nvSpPr>
          <p:cNvPr id="17" name="takeaway"/>
          <p:cNvSpPr txBox="1"/>
          <p:nvPr/>
        </p:nvSpPr>
        <p:spPr>
          <a:xfrm>
            <a:off x="1051560" y="5303520"/>
            <a:ext cx="10241280" cy="457200"/>
          </a:xfrm>
          <a:prstGeom prst="rect">
            <a:avLst/>
          </a:prstGeom>
          <a:noFill/>
          <a:ln/>
        </p:spPr>
        <p:txBody>
          <a:bodyPr wrap="square" lIns="0" tIns="0" rIns="0" bIns="0" rtlCol="0" anchor="ctr"/>
          <a:lstStyle/>
          <a:p>
            <a:pPr indent="0" marL="0">
              <a:buNone/>
            </a:pPr>
            <a:r>
              <a:rPr lang="en-US" sz="1700" dirty="0">
                <a:solidFill>
                  <a:schemeClr val="tx1"/>
                </a:solidFill>
              </a:rPr>
              <a:t>It has reached Irish-controlled Atlantic airspace, and drones have no ground beacons to fall back on.</a:t>
            </a:r>
            <a:endParaRPr lang="en-US" sz="1700" dirty="0"/>
          </a:p>
        </p:txBody>
      </p:sp>
      <p:sp>
        <p:nvSpPr>
          <p:cNvPr id="25" name="Slide Number Placeholder 0"/>
          <p:cNvSpPr>
            <a:spLocks noGrp="1"/>
          </p:cNvSpPr>
          <p:nvPr>
            <p:ph type="sldNum" sz="quarter" idx="4294967295"/>
          </p:nvPr>
        </p:nvSpPr>
        <p:spPr>
          <a:xfrm>
            <a:off x="11064240"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latin typeface="IBM Plex Mono"/>
                <a:ea typeface="IBM Plex Mono"/>
                <a:cs typeface="IBM Plex Mon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4" type="body" hasCustomPrompt="1"/>
          </p:nvPr>
        </p:nvSpPr>
        <p:spPr>
          <a:xfrm>
            <a:off x="6858000" y="402336"/>
            <a:ext cx="4572000" cy="310896"/>
          </a:xfrm>
          <a:prstGeom prst="rect">
            <a:avLst/>
          </a:prstGeom>
          <a:noFill/>
          <a:ln/>
        </p:spPr>
        <p:txBody>
          <a:bodyPr wrap="square" lIns="0" tIns="0" rIns="0" bIns="0" rtlCol="0" anchor="ctr"/>
          <a:lstStyle/>
          <a:p>
            <a:pPr algn="r" indent="0" marL="0">
              <a:buNone/>
            </a:pPr>
            <a:r>
              <a:rPr lang="en-US" sz="1000" spc="300" kern="0" dirty="0">
                <a:solidFill>
                  <a:schemeClr val="tx2"/>
                </a:solidFill>
                <a:latin typeface="IBM Plex Mono" pitchFamily="34" charset="0"/>
                <a:ea typeface="IBM Plex Mono" pitchFamily="34" charset="-122"/>
                <a:cs typeface="IBM Plex Mono" pitchFamily="34" charset="-120"/>
              </a:rPr>
              <a:t>WHY IRELAND</a:t>
            </a:r>
            <a:endParaRPr lang="en-US" sz="1000" dirty="0"/>
          </a:p>
        </p:txBody>
      </p:sp>
      <p:sp>
        <p:nvSpPr>
          <p:cNvPr id="3" name="Text 2"/>
          <p:cNvSpPr/>
          <p:nvPr>
            <p:ph idx="105" type="title" hasCustomPrompt="1"/>
          </p:nvPr>
        </p:nvSpPr>
        <p:spPr>
          <a:xfrm>
            <a:off x="758952" y="1078992"/>
            <a:ext cx="10671048" cy="749808"/>
          </a:xfrm>
          <a:prstGeom prst="rect">
            <a:avLst/>
          </a:prstGeom>
          <a:noFill/>
          <a:ln/>
        </p:spPr>
        <p:txBody>
          <a:bodyPr wrap="square" lIns="0" tIns="0" rIns="0" bIns="0" rtlCol="0" anchor="t"/>
          <a:lstStyle/>
          <a:p>
            <a:pPr algn="l" indent="0" marL="0">
              <a:buNone/>
            </a:pPr>
            <a:r>
              <a:rPr lang="en-US" sz="3200" b="1" dirty="0">
                <a:solidFill>
                  <a:schemeClr val="tx1"/>
                </a:solidFill>
                <a:latin typeface="Chakra Petch" pitchFamily="34" charset="0"/>
                <a:ea typeface="Chakra Petch" pitchFamily="34" charset="-122"/>
                <a:cs typeface="Chakra Petch" pitchFamily="34" charset="-120"/>
              </a:rPr>
              <a:t>Ireland: a huge sea, a small fleet</a:t>
            </a:r>
            <a:endParaRPr lang="en-US" sz="3200" dirty="0"/>
          </a:p>
        </p:txBody>
      </p:sp>
      <p:sp>
        <p:nvSpPr>
          <p:cNvPr id="4" name="fact value 1"/>
          <p:cNvSpPr txBox="1"/>
          <p:nvPr/>
        </p:nvSpPr>
        <p:spPr>
          <a:xfrm>
            <a:off x="758952" y="2011680"/>
            <a:ext cx="2514600" cy="566928"/>
          </a:xfrm>
          <a:prstGeom prst="rect">
            <a:avLst/>
          </a:prstGeom>
          <a:noFill/>
          <a:ln/>
        </p:spPr>
        <p:txBody>
          <a:bodyPr wrap="square" lIns="0" tIns="0" rIns="0" bIns="0" rtlCol="0" anchor="ctr"/>
          <a:lstStyle/>
          <a:p>
            <a:pPr indent="0" marL="0">
              <a:buNone/>
            </a:pPr>
            <a:r>
              <a:rPr lang="en-US" sz="3000" b="1" dirty="0">
                <a:solidFill>
                  <a:schemeClr val="accent2"/>
                </a:solidFill>
                <a:latin typeface="Chakra Petch" pitchFamily="34" charset="0"/>
                <a:ea typeface="Chakra Petch" pitchFamily="34" charset="-122"/>
                <a:cs typeface="Chakra Petch" pitchFamily="34" charset="-120"/>
              </a:rPr>
              <a:t>880,000 km²</a:t>
            </a:r>
            <a:endParaRPr lang="en-US" sz="3000" dirty="0"/>
          </a:p>
        </p:txBody>
      </p:sp>
      <p:sp>
        <p:nvSpPr>
          <p:cNvPr id="5" name="fact label 1"/>
          <p:cNvSpPr txBox="1"/>
          <p:nvPr/>
        </p:nvSpPr>
        <p:spPr>
          <a:xfrm>
            <a:off x="3547872" y="1993392"/>
            <a:ext cx="4069080" cy="868680"/>
          </a:xfrm>
          <a:prstGeom prst="rect">
            <a:avLst/>
          </a:prstGeom>
          <a:noFill/>
          <a:ln/>
        </p:spPr>
        <p:txBody>
          <a:bodyPr wrap="square" lIns="0" tIns="0" rIns="0" bIns="0" rtlCol="0" anchor="t"/>
          <a:lstStyle/>
          <a:p>
            <a:pPr indent="0" marL="0">
              <a:buNone/>
            </a:pPr>
            <a:r>
              <a:rPr lang="en-US" sz="1500" dirty="0">
                <a:solidFill>
                  <a:schemeClr val="tx1"/>
                </a:solidFill>
              </a:rPr>
              <a:t>of sea to watch, more than 10× Ireland's land area</a:t>
            </a:r>
            <a:endParaRPr lang="en-US" sz="1500" dirty="0"/>
          </a:p>
          <a:p>
            <a:pPr indent="0" marL="0">
              <a:buNone/>
            </a:pPr>
            <a:r>
              <a:rPr lang="en-US" sz="1000" dirty="0">
                <a:solidFill>
                  <a:schemeClr val="tx2"/>
                </a:solidFill>
              </a:rPr>
              <a:t>Marine Institute</a:t>
            </a:r>
            <a:endParaRPr lang="en-US" sz="1500" dirty="0"/>
          </a:p>
        </p:txBody>
      </p:sp>
      <p:sp>
        <p:nvSpPr>
          <p:cNvPr id="6" name="fact value 2"/>
          <p:cNvSpPr txBox="1"/>
          <p:nvPr/>
        </p:nvSpPr>
        <p:spPr>
          <a:xfrm>
            <a:off x="758952" y="3035808"/>
            <a:ext cx="2514600" cy="566928"/>
          </a:xfrm>
          <a:prstGeom prst="rect">
            <a:avLst/>
          </a:prstGeom>
          <a:noFill/>
          <a:ln/>
        </p:spPr>
        <p:txBody>
          <a:bodyPr wrap="square" lIns="0" tIns="0" rIns="0" bIns="0" rtlCol="0" anchor="ctr"/>
          <a:lstStyle/>
          <a:p>
            <a:pPr indent="0" marL="0">
              <a:buNone/>
            </a:pPr>
            <a:r>
              <a:rPr lang="en-US" sz="3000" b="1" dirty="0">
                <a:solidFill>
                  <a:schemeClr val="accent2"/>
                </a:solidFill>
                <a:latin typeface="Chakra Petch" pitchFamily="34" charset="0"/>
                <a:ea typeface="Chakra Petch" pitchFamily="34" charset="-122"/>
                <a:cs typeface="Chakra Petch" pitchFamily="34" charset="-120"/>
              </a:rPr>
              <a:t>~75%</a:t>
            </a:r>
            <a:endParaRPr lang="en-US" sz="3000" dirty="0"/>
          </a:p>
        </p:txBody>
      </p:sp>
      <p:sp>
        <p:nvSpPr>
          <p:cNvPr id="7" name="fact label 2"/>
          <p:cNvSpPr txBox="1"/>
          <p:nvPr/>
        </p:nvSpPr>
        <p:spPr>
          <a:xfrm>
            <a:off x="3547872" y="3017520"/>
            <a:ext cx="4069080" cy="868680"/>
          </a:xfrm>
          <a:prstGeom prst="rect">
            <a:avLst/>
          </a:prstGeom>
          <a:noFill/>
          <a:ln/>
        </p:spPr>
        <p:txBody>
          <a:bodyPr wrap="square" lIns="0" tIns="0" rIns="0" bIns="0" rtlCol="0" anchor="t"/>
          <a:lstStyle/>
          <a:p>
            <a:pPr indent="0" marL="0">
              <a:buNone/>
            </a:pPr>
            <a:r>
              <a:rPr lang="en-US" sz="1500" dirty="0">
                <a:solidFill>
                  <a:schemeClr val="tx1"/>
                </a:solidFill>
              </a:rPr>
              <a:t>of transatlantic subsea cables pass through or near Irish waters</a:t>
            </a:r>
            <a:endParaRPr lang="en-US" sz="1500" dirty="0"/>
          </a:p>
          <a:p>
            <a:pPr indent="0" marL="0">
              <a:buNone/>
            </a:pPr>
            <a:r>
              <a:rPr lang="en-US" sz="1000" dirty="0">
                <a:solidFill>
                  <a:schemeClr val="tx2"/>
                </a:solidFill>
              </a:rPr>
              <a:t>TechCentral, Jul 2026</a:t>
            </a:r>
            <a:endParaRPr lang="en-US" sz="1500" dirty="0"/>
          </a:p>
        </p:txBody>
      </p:sp>
      <p:sp>
        <p:nvSpPr>
          <p:cNvPr id="8" name="fact value 3"/>
          <p:cNvSpPr txBox="1"/>
          <p:nvPr/>
        </p:nvSpPr>
        <p:spPr>
          <a:xfrm>
            <a:off x="758952" y="4059936"/>
            <a:ext cx="2514600" cy="566928"/>
          </a:xfrm>
          <a:prstGeom prst="rect">
            <a:avLst/>
          </a:prstGeom>
          <a:noFill/>
          <a:ln/>
        </p:spPr>
        <p:txBody>
          <a:bodyPr wrap="square" lIns="0" tIns="0" rIns="0" bIns="0" rtlCol="0" anchor="ctr"/>
          <a:lstStyle/>
          <a:p>
            <a:pPr indent="0" marL="0">
              <a:buNone/>
            </a:pPr>
            <a:r>
              <a:rPr lang="en-US" sz="3000" b="1" dirty="0">
                <a:solidFill>
                  <a:schemeClr val="accent2"/>
                </a:solidFill>
                <a:latin typeface="Chakra Petch" pitchFamily="34" charset="0"/>
                <a:ea typeface="Chakra Petch" pitchFamily="34" charset="-122"/>
                <a:cs typeface="Chakra Petch" pitchFamily="34" charset="-120"/>
              </a:rPr>
              <a:t>8 ships</a:t>
            </a:r>
            <a:endParaRPr lang="en-US" sz="3000" dirty="0"/>
          </a:p>
        </p:txBody>
      </p:sp>
      <p:sp>
        <p:nvSpPr>
          <p:cNvPr id="9" name="fact label 3"/>
          <p:cNvSpPr txBox="1"/>
          <p:nvPr/>
        </p:nvSpPr>
        <p:spPr>
          <a:xfrm>
            <a:off x="3547872" y="4041648"/>
            <a:ext cx="4069080" cy="868680"/>
          </a:xfrm>
          <a:prstGeom prst="rect">
            <a:avLst/>
          </a:prstGeom>
          <a:noFill/>
          <a:ln/>
        </p:spPr>
        <p:txBody>
          <a:bodyPr wrap="square" lIns="0" tIns="0" rIns="0" bIns="0" rtlCol="0" anchor="t"/>
          <a:lstStyle/>
          <a:p>
            <a:pPr indent="0" marL="0">
              <a:buNone/>
            </a:pPr>
            <a:r>
              <a:rPr lang="en-US" sz="1500" dirty="0">
                <a:solidFill>
                  <a:schemeClr val="tx1"/>
                </a:solidFill>
              </a:rPr>
              <a:t>in the Naval Service; often only 1–4 can sail</a:t>
            </a:r>
            <a:endParaRPr lang="en-US" sz="1500" dirty="0"/>
          </a:p>
          <a:p>
            <a:pPr indent="0" marL="0">
              <a:buNone/>
            </a:pPr>
            <a:r>
              <a:rPr lang="en-US" sz="1000" dirty="0">
                <a:solidFill>
                  <a:schemeClr val="tx2"/>
                </a:solidFill>
              </a:rPr>
              <a:t>TechCentral, Jul 2026</a:t>
            </a:r>
            <a:endParaRPr lang="en-US" sz="1500" dirty="0"/>
          </a:p>
        </p:txBody>
      </p:sp>
      <p:sp>
        <p:nvSpPr>
          <p:cNvPr id="10" name="fact value 4"/>
          <p:cNvSpPr txBox="1"/>
          <p:nvPr/>
        </p:nvSpPr>
        <p:spPr>
          <a:xfrm>
            <a:off x="758952" y="5084064"/>
            <a:ext cx="2514600" cy="566928"/>
          </a:xfrm>
          <a:prstGeom prst="rect">
            <a:avLst/>
          </a:prstGeom>
          <a:noFill/>
          <a:ln/>
        </p:spPr>
        <p:txBody>
          <a:bodyPr wrap="square" lIns="0" tIns="0" rIns="0" bIns="0" rtlCol="0" anchor="ctr"/>
          <a:lstStyle/>
          <a:p>
            <a:pPr indent="0" marL="0">
              <a:buNone/>
            </a:pPr>
            <a:r>
              <a:rPr lang="en-US" sz="3000" b="1" dirty="0">
                <a:solidFill>
                  <a:schemeClr val="accent2"/>
                </a:solidFill>
                <a:latin typeface="Chakra Petch" pitchFamily="34" charset="0"/>
                <a:ea typeface="Chakra Petch" pitchFamily="34" charset="-122"/>
                <a:cs typeface="Chakra Petch" pitchFamily="34" charset="-120"/>
              </a:rPr>
              <a:t>2027–28</a:t>
            </a:r>
            <a:endParaRPr lang="en-US" sz="3000" dirty="0"/>
          </a:p>
        </p:txBody>
      </p:sp>
      <p:sp>
        <p:nvSpPr>
          <p:cNvPr id="11" name="fact label 4"/>
          <p:cNvSpPr txBox="1"/>
          <p:nvPr/>
        </p:nvSpPr>
        <p:spPr>
          <a:xfrm>
            <a:off x="3547872" y="5065776"/>
            <a:ext cx="4069080" cy="868680"/>
          </a:xfrm>
          <a:prstGeom prst="rect">
            <a:avLst/>
          </a:prstGeom>
          <a:noFill/>
          <a:ln/>
        </p:spPr>
        <p:txBody>
          <a:bodyPr wrap="square" lIns="0" tIns="0" rIns="0" bIns="0" rtlCol="0" anchor="t"/>
          <a:lstStyle/>
          <a:p>
            <a:pPr indent="0" marL="0">
              <a:buNone/>
            </a:pPr>
            <a:r>
              <a:rPr lang="en-US" sz="1500" dirty="0">
                <a:solidFill>
                  <a:schemeClr val="tx1"/>
                </a:solidFill>
              </a:rPr>
              <a:t>before Ireland's first long-range primary military radar is in place</a:t>
            </a:r>
            <a:endParaRPr lang="en-US" sz="1500" dirty="0"/>
          </a:p>
          <a:p>
            <a:pPr indent="0" marL="0">
              <a:buNone/>
            </a:pPr>
            <a:r>
              <a:rPr lang="en-US" sz="1000" dirty="0">
                <a:solidFill>
                  <a:schemeClr val="tx2"/>
                </a:solidFill>
              </a:rPr>
              <a:t>Irish Times, Jul 2026</a:t>
            </a:r>
            <a:endParaRPr lang="en-US" sz="1500" dirty="0"/>
          </a:p>
        </p:txBody>
      </p:sp>
      <p:sp>
        <p:nvSpPr>
          <p:cNvPr id="12" name="sea area square"/>
          <p:cNvSpPr/>
          <p:nvPr/>
        </p:nvSpPr>
        <p:spPr>
          <a:xfrm>
            <a:off x="7818120" y="2103120"/>
            <a:ext cx="3520440" cy="3520440"/>
          </a:xfrm>
          <a:prstGeom prst="rect">
            <a:avLst/>
          </a:prstGeom>
          <a:solidFill>
            <a:schemeClr val="accent1">
              <a:alpha val="18000"/>
            </a:schemeClr>
          </a:solidFill>
          <a:ln w="19050">
            <a:solidFill>
              <a:schemeClr val="accent2"/>
            </a:solidFill>
            <a:prstDash val="solid"/>
          </a:ln>
        </p:spPr>
      </p:sp>
      <p:sp>
        <p:nvSpPr>
          <p:cNvPr id="13" name="land area square"/>
          <p:cNvSpPr/>
          <p:nvPr/>
        </p:nvSpPr>
        <p:spPr>
          <a:xfrm>
            <a:off x="8074152" y="4277276"/>
            <a:ext cx="1090252" cy="1090252"/>
          </a:xfrm>
          <a:prstGeom prst="rect">
            <a:avLst/>
          </a:prstGeom>
          <a:solidFill>
            <a:schemeClr val="tx1"/>
          </a:solidFill>
          <a:ln/>
        </p:spPr>
      </p:sp>
      <p:sp>
        <p:nvSpPr>
          <p:cNvPr id="14" name="land label"/>
          <p:cNvSpPr txBox="1"/>
          <p:nvPr/>
        </p:nvSpPr>
        <p:spPr>
          <a:xfrm>
            <a:off x="8074152" y="4277276"/>
            <a:ext cx="1090252" cy="1090252"/>
          </a:xfrm>
          <a:prstGeom prst="rect">
            <a:avLst/>
          </a:prstGeom>
          <a:noFill/>
          <a:ln/>
        </p:spPr>
        <p:txBody>
          <a:bodyPr wrap="square" lIns="0" tIns="0" rIns="0" bIns="0" rtlCol="0" anchor="ctr"/>
          <a:lstStyle/>
          <a:p>
            <a:pPr algn="ctr" indent="0" marL="0">
              <a:buNone/>
            </a:pPr>
            <a:r>
              <a:rPr lang="en-US" sz="1000" dirty="0">
                <a:solidFill>
                  <a:schemeClr val="bg1"/>
                </a:solidFill>
                <a:latin typeface="IBM Plex Mono" pitchFamily="34" charset="0"/>
                <a:ea typeface="IBM Plex Mono" pitchFamily="34" charset="-122"/>
                <a:cs typeface="IBM Plex Mono" pitchFamily="34" charset="-120"/>
              </a:rPr>
              <a:t>LAND</a:t>
            </a:r>
            <a:endParaRPr lang="en-US" sz="1000" dirty="0"/>
          </a:p>
        </p:txBody>
      </p:sp>
      <p:sp>
        <p:nvSpPr>
          <p:cNvPr id="15" name="sea label"/>
          <p:cNvSpPr txBox="1"/>
          <p:nvPr/>
        </p:nvSpPr>
        <p:spPr>
          <a:xfrm>
            <a:off x="8046720" y="2286000"/>
            <a:ext cx="3063240" cy="320040"/>
          </a:xfrm>
          <a:prstGeom prst="rect">
            <a:avLst/>
          </a:prstGeom>
          <a:noFill/>
          <a:ln/>
        </p:spPr>
        <p:txBody>
          <a:bodyPr wrap="square" lIns="0" tIns="0" rIns="0" bIns="0" rtlCol="0" anchor="ctr"/>
          <a:lstStyle/>
          <a:p>
            <a:pPr indent="0" marL="0">
              <a:buNone/>
            </a:pPr>
            <a:r>
              <a:rPr lang="en-US" sz="1100" spc="200" kern="0" dirty="0">
                <a:solidFill>
                  <a:schemeClr val="accent2"/>
                </a:solidFill>
                <a:latin typeface="IBM Plex Mono" pitchFamily="34" charset="0"/>
                <a:ea typeface="IBM Plex Mono" pitchFamily="34" charset="-122"/>
                <a:cs typeface="IBM Plex Mono" pitchFamily="34" charset="-120"/>
              </a:rPr>
              <a:t>IRISH WATERS</a:t>
            </a:r>
            <a:endParaRPr lang="en-US" sz="1100" dirty="0"/>
          </a:p>
        </p:txBody>
      </p:sp>
      <p:sp>
        <p:nvSpPr>
          <p:cNvPr id="16" name="scale caption"/>
          <p:cNvSpPr txBox="1"/>
          <p:nvPr/>
        </p:nvSpPr>
        <p:spPr>
          <a:xfrm>
            <a:off x="7818120" y="5715000"/>
            <a:ext cx="3520440" cy="274320"/>
          </a:xfrm>
          <a:prstGeom prst="rect">
            <a:avLst/>
          </a:prstGeom>
          <a:noFill/>
          <a:ln/>
        </p:spPr>
        <p:txBody>
          <a:bodyPr wrap="square" lIns="0" tIns="0" rIns="0" bIns="0" rtlCol="0" anchor="ctr"/>
          <a:lstStyle/>
          <a:p>
            <a:pPr indent="0" marL="0">
              <a:buNone/>
            </a:pPr>
            <a:r>
              <a:rPr lang="en-US" sz="1000" dirty="0">
                <a:solidFill>
                  <a:schemeClr val="tx2"/>
                </a:solidFill>
              </a:rPr>
              <a:t>Areas to scale</a:t>
            </a:r>
            <a:endParaRPr lang="en-US" sz="1000" dirty="0"/>
          </a:p>
        </p:txBody>
      </p:sp>
      <p:sp>
        <p:nvSpPr>
          <p:cNvPr id="25" name="Slide Number Placeholder 0"/>
          <p:cNvSpPr>
            <a:spLocks noGrp="1"/>
          </p:cNvSpPr>
          <p:nvPr>
            <p:ph type="sldNum" sz="quarter" idx="4294967295"/>
          </p:nvPr>
        </p:nvSpPr>
        <p:spPr>
          <a:xfrm>
            <a:off x="11064240"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latin typeface="IBM Plex Mono"/>
                <a:ea typeface="IBM Plex Mono"/>
                <a:cs typeface="IBM Plex Mon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4" type="body" hasCustomPrompt="1"/>
          </p:nvPr>
        </p:nvSpPr>
        <p:spPr>
          <a:xfrm>
            <a:off x="6858000" y="402336"/>
            <a:ext cx="4572000" cy="310896"/>
          </a:xfrm>
          <a:prstGeom prst="rect">
            <a:avLst/>
          </a:prstGeom>
          <a:noFill/>
          <a:ln/>
        </p:spPr>
        <p:txBody>
          <a:bodyPr wrap="square" lIns="0" tIns="0" rIns="0" bIns="0" rtlCol="0" anchor="ctr"/>
          <a:lstStyle/>
          <a:p>
            <a:pPr algn="r" indent="0" marL="0">
              <a:buNone/>
            </a:pPr>
            <a:r>
              <a:rPr lang="en-US" sz="1000" spc="300" kern="0" dirty="0">
                <a:solidFill>
                  <a:schemeClr val="tx2"/>
                </a:solidFill>
                <a:latin typeface="IBM Plex Mono" pitchFamily="34" charset="0"/>
                <a:ea typeface="IBM Plex Mono" pitchFamily="34" charset="-122"/>
                <a:cs typeface="IBM Plex Mono" pitchFamily="34" charset="-120"/>
              </a:rPr>
              <a:t>THE GAP</a:t>
            </a:r>
            <a:endParaRPr lang="en-US" sz="1000" dirty="0"/>
          </a:p>
        </p:txBody>
      </p:sp>
      <p:sp>
        <p:nvSpPr>
          <p:cNvPr id="3" name="Text 2"/>
          <p:cNvSpPr/>
          <p:nvPr>
            <p:ph idx="105" type="title" hasCustomPrompt="1"/>
          </p:nvPr>
        </p:nvSpPr>
        <p:spPr>
          <a:xfrm>
            <a:off x="758952" y="1078992"/>
            <a:ext cx="10671048" cy="749808"/>
          </a:xfrm>
          <a:prstGeom prst="rect">
            <a:avLst/>
          </a:prstGeom>
          <a:noFill/>
          <a:ln/>
        </p:spPr>
        <p:txBody>
          <a:bodyPr wrap="square" lIns="0" tIns="0" rIns="0" bIns="0" rtlCol="0" anchor="t"/>
          <a:lstStyle/>
          <a:p>
            <a:pPr algn="l" indent="0" marL="0">
              <a:buNone/>
            </a:pPr>
            <a:r>
              <a:rPr lang="en-US" sz="3200" b="1" dirty="0">
                <a:solidFill>
                  <a:schemeClr val="tx1"/>
                </a:solidFill>
                <a:latin typeface="Chakra Petch" pitchFamily="34" charset="0"/>
                <a:ea typeface="Chakra Petch" pitchFamily="34" charset="-122"/>
                <a:cs typeface="Chakra Petch" pitchFamily="34" charset="-120"/>
              </a:rPr>
              <a:t>At sea, every GNSS backup fails</a:t>
            </a:r>
            <a:endParaRPr lang="en-US" sz="3200" dirty="0"/>
          </a:p>
        </p:txBody>
      </p:sp>
      <p:sp>
        <p:nvSpPr>
          <p:cNvPr id="4" name="option card 1"/>
          <p:cNvSpPr/>
          <p:nvPr/>
        </p:nvSpPr>
        <p:spPr>
          <a:xfrm>
            <a:off x="758952" y="2103120"/>
            <a:ext cx="1938528" cy="3566160"/>
          </a:xfrm>
          <a:prstGeom prst="roundRect">
            <a:avLst>
              <a:gd name="adj" fmla="val 2830"/>
            </a:avLst>
          </a:prstGeom>
          <a:solidFill>
            <a:schemeClr val="bg2"/>
          </a:solidFill>
          <a:ln w="12700">
            <a:solidFill>
              <a:schemeClr val="accent5"/>
            </a:solidFill>
            <a:prstDash val="solid"/>
          </a:ln>
        </p:spPr>
      </p:sp>
      <p:sp>
        <p:nvSpPr>
          <p:cNvPr id="5" name="option name 1"/>
          <p:cNvSpPr txBox="1"/>
          <p:nvPr/>
        </p:nvSpPr>
        <p:spPr>
          <a:xfrm>
            <a:off x="960120" y="2331720"/>
            <a:ext cx="1536192" cy="365760"/>
          </a:xfrm>
          <a:prstGeom prst="rect">
            <a:avLst/>
          </a:prstGeom>
          <a:noFill/>
          <a:ln/>
        </p:spPr>
        <p:txBody>
          <a:bodyPr wrap="square" lIns="0" tIns="0" rIns="0" bIns="0" rtlCol="0" anchor="ctr"/>
          <a:lstStyle/>
          <a:p>
            <a:pPr indent="0" marL="0">
              <a:buNone/>
            </a:pPr>
            <a:r>
              <a:rPr lang="en-US" sz="1100" b="1" spc="100" kern="0" dirty="0">
                <a:solidFill>
                  <a:schemeClr val="tx1"/>
                </a:solidFill>
                <a:latin typeface="IBM Plex Mono" pitchFamily="34" charset="0"/>
                <a:ea typeface="IBM Plex Mono" pitchFamily="34" charset="-122"/>
                <a:cs typeface="IBM Plex Mono" pitchFamily="34" charset="-120"/>
              </a:rPr>
              <a:t>CAMERAS</a:t>
            </a:r>
            <a:endParaRPr lang="en-US" sz="1100" dirty="0"/>
          </a:p>
        </p:txBody>
      </p:sp>
      <p:sp>
        <p:nvSpPr>
          <p:cNvPr id="6" name="option reason 1"/>
          <p:cNvSpPr txBox="1"/>
          <p:nvPr/>
        </p:nvSpPr>
        <p:spPr>
          <a:xfrm>
            <a:off x="960120" y="2834640"/>
            <a:ext cx="1536192" cy="1965960"/>
          </a:xfrm>
          <a:prstGeom prst="rect">
            <a:avLst/>
          </a:prstGeom>
          <a:noFill/>
          <a:ln/>
        </p:spPr>
        <p:txBody>
          <a:bodyPr wrap="square" lIns="0" tIns="0" rIns="0" bIns="0" rtlCol="0" anchor="t"/>
          <a:lstStyle/>
          <a:p>
            <a:pPr indent="0" marL="0">
              <a:buNone/>
            </a:pPr>
            <a:r>
              <a:rPr lang="en-US" sz="1400" dirty="0">
                <a:solidFill>
                  <a:schemeClr val="tx1"/>
                </a:solidFill>
              </a:rPr>
              <a:t>The sea looks the same everywhere; nothing to lock on to. Blind at night and in fog.</a:t>
            </a:r>
            <a:endParaRPr lang="en-US" sz="1400" dirty="0"/>
          </a:p>
        </p:txBody>
      </p:sp>
      <p:sp>
        <p:nvSpPr>
          <p:cNvPr id="7" name="option verdict 1"/>
          <p:cNvSpPr txBox="1"/>
          <p:nvPr/>
        </p:nvSpPr>
        <p:spPr>
          <a:xfrm>
            <a:off x="960120" y="5074920"/>
            <a:ext cx="1536192" cy="365760"/>
          </a:xfrm>
          <a:prstGeom prst="rect">
            <a:avLst/>
          </a:prstGeom>
          <a:noFill/>
          <a:ln/>
        </p:spPr>
        <p:txBody>
          <a:bodyPr wrap="square" lIns="0" tIns="0" rIns="0" bIns="0" rtlCol="0" anchor="ctr"/>
          <a:lstStyle/>
          <a:p>
            <a:pPr indent="0" marL="0">
              <a:buNone/>
            </a:pPr>
            <a:r>
              <a:rPr lang="en-US" sz="1300" b="1" spc="300" kern="0" dirty="0">
                <a:solidFill>
                  <a:schemeClr val="accent3"/>
                </a:solidFill>
                <a:latin typeface="IBM Plex Mono" pitchFamily="34" charset="0"/>
                <a:ea typeface="IBM Plex Mono" pitchFamily="34" charset="-122"/>
                <a:cs typeface="IBM Plex Mono" pitchFamily="34" charset="-120"/>
              </a:rPr>
              <a:t>FAILS</a:t>
            </a:r>
            <a:endParaRPr lang="en-US" sz="1300" dirty="0"/>
          </a:p>
        </p:txBody>
      </p:sp>
      <p:sp>
        <p:nvSpPr>
          <p:cNvPr id="8" name="option card 2"/>
          <p:cNvSpPr/>
          <p:nvPr/>
        </p:nvSpPr>
        <p:spPr>
          <a:xfrm>
            <a:off x="2944368" y="2103120"/>
            <a:ext cx="1938528" cy="3566160"/>
          </a:xfrm>
          <a:prstGeom prst="roundRect">
            <a:avLst>
              <a:gd name="adj" fmla="val 2830"/>
            </a:avLst>
          </a:prstGeom>
          <a:solidFill>
            <a:schemeClr val="bg2"/>
          </a:solidFill>
          <a:ln w="12700">
            <a:solidFill>
              <a:schemeClr val="accent5"/>
            </a:solidFill>
            <a:prstDash val="solid"/>
          </a:ln>
        </p:spPr>
      </p:sp>
      <p:sp>
        <p:nvSpPr>
          <p:cNvPr id="9" name="option name 2"/>
          <p:cNvSpPr txBox="1"/>
          <p:nvPr/>
        </p:nvSpPr>
        <p:spPr>
          <a:xfrm>
            <a:off x="3145536" y="2331720"/>
            <a:ext cx="1536192" cy="365760"/>
          </a:xfrm>
          <a:prstGeom prst="rect">
            <a:avLst/>
          </a:prstGeom>
          <a:noFill/>
          <a:ln/>
        </p:spPr>
        <p:txBody>
          <a:bodyPr wrap="square" lIns="0" tIns="0" rIns="0" bIns="0" rtlCol="0" anchor="ctr"/>
          <a:lstStyle/>
          <a:p>
            <a:pPr indent="0" marL="0">
              <a:buNone/>
            </a:pPr>
            <a:r>
              <a:rPr lang="en-US" sz="1100" b="1" spc="100" kern="0" dirty="0">
                <a:solidFill>
                  <a:schemeClr val="tx1"/>
                </a:solidFill>
                <a:latin typeface="IBM Plex Mono" pitchFamily="34" charset="0"/>
                <a:ea typeface="IBM Plex Mono" pitchFamily="34" charset="-122"/>
                <a:cs typeface="IBM Plex Mono" pitchFamily="34" charset="-120"/>
              </a:rPr>
              <a:t>LIDAR / RADAR</a:t>
            </a:r>
            <a:endParaRPr lang="en-US" sz="1100" dirty="0"/>
          </a:p>
        </p:txBody>
      </p:sp>
      <p:sp>
        <p:nvSpPr>
          <p:cNvPr id="10" name="option reason 2"/>
          <p:cNvSpPr txBox="1"/>
          <p:nvPr/>
        </p:nvSpPr>
        <p:spPr>
          <a:xfrm>
            <a:off x="3145536" y="2834640"/>
            <a:ext cx="1536192" cy="1965960"/>
          </a:xfrm>
          <a:prstGeom prst="rect">
            <a:avLst/>
          </a:prstGeom>
          <a:noFill/>
          <a:ln/>
        </p:spPr>
        <p:txBody>
          <a:bodyPr wrap="square" lIns="0" tIns="0" rIns="0" bIns="0" rtlCol="0" anchor="t"/>
          <a:lstStyle/>
          <a:p>
            <a:pPr indent="0" marL="0">
              <a:buNone/>
            </a:pPr>
            <a:r>
              <a:rPr lang="en-US" sz="1400" dirty="0">
                <a:solidFill>
                  <a:schemeClr val="tx1"/>
                </a:solidFill>
              </a:rPr>
              <a:t>The surface is flat and moving, so terrain matching has no terrain. Both emit.</a:t>
            </a:r>
            <a:endParaRPr lang="en-US" sz="1400" dirty="0"/>
          </a:p>
        </p:txBody>
      </p:sp>
      <p:sp>
        <p:nvSpPr>
          <p:cNvPr id="11" name="option verdict 2"/>
          <p:cNvSpPr txBox="1"/>
          <p:nvPr/>
        </p:nvSpPr>
        <p:spPr>
          <a:xfrm>
            <a:off x="3145536" y="5074920"/>
            <a:ext cx="1536192" cy="365760"/>
          </a:xfrm>
          <a:prstGeom prst="rect">
            <a:avLst/>
          </a:prstGeom>
          <a:noFill/>
          <a:ln/>
        </p:spPr>
        <p:txBody>
          <a:bodyPr wrap="square" lIns="0" tIns="0" rIns="0" bIns="0" rtlCol="0" anchor="ctr"/>
          <a:lstStyle/>
          <a:p>
            <a:pPr indent="0" marL="0">
              <a:buNone/>
            </a:pPr>
            <a:r>
              <a:rPr lang="en-US" sz="1300" b="1" spc="300" kern="0" dirty="0">
                <a:solidFill>
                  <a:schemeClr val="accent3"/>
                </a:solidFill>
                <a:latin typeface="IBM Plex Mono" pitchFamily="34" charset="0"/>
                <a:ea typeface="IBM Plex Mono" pitchFamily="34" charset="-122"/>
                <a:cs typeface="IBM Plex Mono" pitchFamily="34" charset="-120"/>
              </a:rPr>
              <a:t>FAILS</a:t>
            </a:r>
            <a:endParaRPr lang="en-US" sz="1300" dirty="0"/>
          </a:p>
        </p:txBody>
      </p:sp>
      <p:sp>
        <p:nvSpPr>
          <p:cNvPr id="12" name="option card 3"/>
          <p:cNvSpPr/>
          <p:nvPr/>
        </p:nvSpPr>
        <p:spPr>
          <a:xfrm>
            <a:off x="5129784" y="2103120"/>
            <a:ext cx="1938528" cy="3566160"/>
          </a:xfrm>
          <a:prstGeom prst="roundRect">
            <a:avLst>
              <a:gd name="adj" fmla="val 2830"/>
            </a:avLst>
          </a:prstGeom>
          <a:solidFill>
            <a:schemeClr val="bg2"/>
          </a:solidFill>
          <a:ln w="12700">
            <a:solidFill>
              <a:schemeClr val="accent5"/>
            </a:solidFill>
            <a:prstDash val="solid"/>
          </a:ln>
        </p:spPr>
      </p:sp>
      <p:sp>
        <p:nvSpPr>
          <p:cNvPr id="13" name="option name 3"/>
          <p:cNvSpPr txBox="1"/>
          <p:nvPr/>
        </p:nvSpPr>
        <p:spPr>
          <a:xfrm>
            <a:off x="5330952" y="2331720"/>
            <a:ext cx="1536192" cy="365760"/>
          </a:xfrm>
          <a:prstGeom prst="rect">
            <a:avLst/>
          </a:prstGeom>
          <a:noFill/>
          <a:ln/>
        </p:spPr>
        <p:txBody>
          <a:bodyPr wrap="square" lIns="0" tIns="0" rIns="0" bIns="0" rtlCol="0" anchor="ctr"/>
          <a:lstStyle/>
          <a:p>
            <a:pPr indent="0" marL="0">
              <a:buNone/>
            </a:pPr>
            <a:r>
              <a:rPr lang="en-US" sz="1100" b="1" spc="100" kern="0" dirty="0">
                <a:solidFill>
                  <a:schemeClr val="tx1"/>
                </a:solidFill>
                <a:latin typeface="IBM Plex Mono" pitchFamily="34" charset="0"/>
                <a:ea typeface="IBM Plex Mono" pitchFamily="34" charset="-122"/>
                <a:cs typeface="IBM Plex Mono" pitchFamily="34" charset="-120"/>
              </a:rPr>
              <a:t>STAR TRACKERS</a:t>
            </a:r>
            <a:endParaRPr lang="en-US" sz="1100" dirty="0"/>
          </a:p>
        </p:txBody>
      </p:sp>
      <p:sp>
        <p:nvSpPr>
          <p:cNvPr id="14" name="option reason 3"/>
          <p:cNvSpPr txBox="1"/>
          <p:nvPr/>
        </p:nvSpPr>
        <p:spPr>
          <a:xfrm>
            <a:off x="5330952" y="2834640"/>
            <a:ext cx="1536192" cy="1965960"/>
          </a:xfrm>
          <a:prstGeom prst="rect">
            <a:avLst/>
          </a:prstGeom>
          <a:noFill/>
          <a:ln/>
        </p:spPr>
        <p:txBody>
          <a:bodyPr wrap="square" lIns="0" tIns="0" rIns="0" bIns="0" rtlCol="0" anchor="t"/>
          <a:lstStyle/>
          <a:p>
            <a:pPr indent="0" marL="0">
              <a:buNone/>
            </a:pPr>
            <a:r>
              <a:rPr lang="en-US" sz="1400" dirty="0">
                <a:solidFill>
                  <a:schemeClr val="tx1"/>
                </a:solidFill>
              </a:rPr>
              <a:t>Need a clear sky. Ireland rarely gives one.</a:t>
            </a:r>
            <a:endParaRPr lang="en-US" sz="1400" dirty="0"/>
          </a:p>
        </p:txBody>
      </p:sp>
      <p:sp>
        <p:nvSpPr>
          <p:cNvPr id="15" name="option verdict 3"/>
          <p:cNvSpPr txBox="1"/>
          <p:nvPr/>
        </p:nvSpPr>
        <p:spPr>
          <a:xfrm>
            <a:off x="5330952" y="5074920"/>
            <a:ext cx="1536192" cy="365760"/>
          </a:xfrm>
          <a:prstGeom prst="rect">
            <a:avLst/>
          </a:prstGeom>
          <a:noFill/>
          <a:ln/>
        </p:spPr>
        <p:txBody>
          <a:bodyPr wrap="square" lIns="0" tIns="0" rIns="0" bIns="0" rtlCol="0" anchor="ctr"/>
          <a:lstStyle/>
          <a:p>
            <a:pPr indent="0" marL="0">
              <a:buNone/>
            </a:pPr>
            <a:r>
              <a:rPr lang="en-US" sz="1300" b="1" spc="300" kern="0" dirty="0">
                <a:solidFill>
                  <a:schemeClr val="accent3"/>
                </a:solidFill>
                <a:latin typeface="IBM Plex Mono" pitchFamily="34" charset="0"/>
                <a:ea typeface="IBM Plex Mono" pitchFamily="34" charset="-122"/>
                <a:cs typeface="IBM Plex Mono" pitchFamily="34" charset="-120"/>
              </a:rPr>
              <a:t>FAILS</a:t>
            </a:r>
            <a:endParaRPr lang="en-US" sz="1300" dirty="0"/>
          </a:p>
        </p:txBody>
      </p:sp>
      <p:sp>
        <p:nvSpPr>
          <p:cNvPr id="16" name="option card 4"/>
          <p:cNvSpPr/>
          <p:nvPr/>
        </p:nvSpPr>
        <p:spPr>
          <a:xfrm>
            <a:off x="7315200" y="2103120"/>
            <a:ext cx="1938528" cy="3566160"/>
          </a:xfrm>
          <a:prstGeom prst="roundRect">
            <a:avLst>
              <a:gd name="adj" fmla="val 2830"/>
            </a:avLst>
          </a:prstGeom>
          <a:solidFill>
            <a:schemeClr val="bg2"/>
          </a:solidFill>
          <a:ln w="12700">
            <a:solidFill>
              <a:schemeClr val="accent5"/>
            </a:solidFill>
            <a:prstDash val="solid"/>
          </a:ln>
        </p:spPr>
      </p:sp>
      <p:sp>
        <p:nvSpPr>
          <p:cNvPr id="17" name="option name 4"/>
          <p:cNvSpPr txBox="1"/>
          <p:nvPr/>
        </p:nvSpPr>
        <p:spPr>
          <a:xfrm>
            <a:off x="7516368" y="2331720"/>
            <a:ext cx="1536192" cy="365760"/>
          </a:xfrm>
          <a:prstGeom prst="rect">
            <a:avLst/>
          </a:prstGeom>
          <a:noFill/>
          <a:ln/>
        </p:spPr>
        <p:txBody>
          <a:bodyPr wrap="square" lIns="0" tIns="0" rIns="0" bIns="0" rtlCol="0" anchor="ctr"/>
          <a:lstStyle/>
          <a:p>
            <a:pPr indent="0" marL="0">
              <a:buNone/>
            </a:pPr>
            <a:r>
              <a:rPr lang="en-US" sz="1100" b="1" spc="100" kern="0" dirty="0">
                <a:solidFill>
                  <a:schemeClr val="tx1"/>
                </a:solidFill>
                <a:latin typeface="IBM Plex Mono" pitchFamily="34" charset="0"/>
                <a:ea typeface="IBM Plex Mono" pitchFamily="34" charset="-122"/>
                <a:cs typeface="IBM Plex Mono" pitchFamily="34" charset="-120"/>
              </a:rPr>
              <a:t>INS ONLY</a:t>
            </a:r>
            <a:endParaRPr lang="en-US" sz="1100" dirty="0"/>
          </a:p>
        </p:txBody>
      </p:sp>
      <p:sp>
        <p:nvSpPr>
          <p:cNvPr id="18" name="option reason 4"/>
          <p:cNvSpPr txBox="1"/>
          <p:nvPr/>
        </p:nvSpPr>
        <p:spPr>
          <a:xfrm>
            <a:off x="7516368" y="2834640"/>
            <a:ext cx="1536192" cy="1965960"/>
          </a:xfrm>
          <a:prstGeom prst="rect">
            <a:avLst/>
          </a:prstGeom>
          <a:noFill/>
          <a:ln/>
        </p:spPr>
        <p:txBody>
          <a:bodyPr wrap="square" lIns="0" tIns="0" rIns="0" bIns="0" rtlCol="0" anchor="t"/>
          <a:lstStyle/>
          <a:p>
            <a:pPr indent="0" marL="0">
              <a:buNone/>
            </a:pPr>
            <a:r>
              <a:rPr lang="en-US" sz="1400" dirty="0">
                <a:solidFill>
                  <a:schemeClr val="tx1"/>
                </a:solidFill>
              </a:rPr>
              <a:t>Error grows without bound: hundreds of metres within minutes on a small drone.</a:t>
            </a:r>
            <a:endParaRPr lang="en-US" sz="1400" dirty="0"/>
          </a:p>
        </p:txBody>
      </p:sp>
      <p:sp>
        <p:nvSpPr>
          <p:cNvPr id="19" name="option verdict 4"/>
          <p:cNvSpPr txBox="1"/>
          <p:nvPr/>
        </p:nvSpPr>
        <p:spPr>
          <a:xfrm>
            <a:off x="7516368" y="5074920"/>
            <a:ext cx="1536192" cy="365760"/>
          </a:xfrm>
          <a:prstGeom prst="rect">
            <a:avLst/>
          </a:prstGeom>
          <a:noFill/>
          <a:ln/>
        </p:spPr>
        <p:txBody>
          <a:bodyPr wrap="square" lIns="0" tIns="0" rIns="0" bIns="0" rtlCol="0" anchor="ctr"/>
          <a:lstStyle/>
          <a:p>
            <a:pPr indent="0" marL="0">
              <a:buNone/>
            </a:pPr>
            <a:r>
              <a:rPr lang="en-US" sz="1300" b="1" spc="300" kern="0" dirty="0">
                <a:solidFill>
                  <a:schemeClr val="accent3"/>
                </a:solidFill>
                <a:latin typeface="IBM Plex Mono" pitchFamily="34" charset="0"/>
                <a:ea typeface="IBM Plex Mono" pitchFamily="34" charset="-122"/>
                <a:cs typeface="IBM Plex Mono" pitchFamily="34" charset="-120"/>
              </a:rPr>
              <a:t>FAILS</a:t>
            </a:r>
            <a:endParaRPr lang="en-US" sz="1300" dirty="0"/>
          </a:p>
        </p:txBody>
      </p:sp>
      <p:sp>
        <p:nvSpPr>
          <p:cNvPr id="20" name="option card 5"/>
          <p:cNvSpPr/>
          <p:nvPr/>
        </p:nvSpPr>
        <p:spPr>
          <a:xfrm>
            <a:off x="9500616" y="2103120"/>
            <a:ext cx="1938528" cy="3566160"/>
          </a:xfrm>
          <a:prstGeom prst="roundRect">
            <a:avLst>
              <a:gd name="adj" fmla="val 2830"/>
            </a:avLst>
          </a:prstGeom>
          <a:solidFill>
            <a:schemeClr val="tx1"/>
          </a:solidFill>
          <a:ln w="12700">
            <a:solidFill>
              <a:schemeClr val="tx1"/>
            </a:solidFill>
            <a:prstDash val="solid"/>
          </a:ln>
        </p:spPr>
      </p:sp>
      <p:sp>
        <p:nvSpPr>
          <p:cNvPr id="21" name="option name 5"/>
          <p:cNvSpPr txBox="1"/>
          <p:nvPr/>
        </p:nvSpPr>
        <p:spPr>
          <a:xfrm>
            <a:off x="9701784" y="2331720"/>
            <a:ext cx="1536192" cy="36576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IBM Plex Mono" pitchFamily="34" charset="0"/>
                <a:ea typeface="IBM Plex Mono" pitchFamily="34" charset="-122"/>
                <a:cs typeface="IBM Plex Mono" pitchFamily="34" charset="-120"/>
              </a:rPr>
              <a:t>MAGNETIC MAP</a:t>
            </a:r>
            <a:endParaRPr lang="en-US" sz="1100" dirty="0"/>
          </a:p>
        </p:txBody>
      </p:sp>
      <p:sp>
        <p:nvSpPr>
          <p:cNvPr id="22" name="option reason 5"/>
          <p:cNvSpPr txBox="1"/>
          <p:nvPr/>
        </p:nvSpPr>
        <p:spPr>
          <a:xfrm>
            <a:off x="9701784" y="2834640"/>
            <a:ext cx="1536192" cy="1965960"/>
          </a:xfrm>
          <a:prstGeom prst="rect">
            <a:avLst/>
          </a:prstGeom>
          <a:noFill/>
          <a:ln/>
        </p:spPr>
        <p:txBody>
          <a:bodyPr wrap="square" lIns="0" tIns="0" rIns="0" bIns="0" rtlCol="0" anchor="t"/>
          <a:lstStyle/>
          <a:p>
            <a:pPr indent="0" marL="0">
              <a:buNone/>
            </a:pPr>
            <a:r>
              <a:rPr lang="en-US" sz="1400" dirty="0">
                <a:solidFill>
                  <a:schemeClr val="bg1"/>
                </a:solidFill>
              </a:rPr>
              <a:t>Fixed to the rock below. Ignores waves, weather and daylight. Emits nothing.</a:t>
            </a:r>
            <a:endParaRPr lang="en-US" sz="1400" dirty="0"/>
          </a:p>
        </p:txBody>
      </p:sp>
      <p:sp>
        <p:nvSpPr>
          <p:cNvPr id="23" name="option verdict 5"/>
          <p:cNvSpPr txBox="1"/>
          <p:nvPr/>
        </p:nvSpPr>
        <p:spPr>
          <a:xfrm>
            <a:off x="9701784" y="5074920"/>
            <a:ext cx="1536192" cy="365760"/>
          </a:xfrm>
          <a:prstGeom prst="rect">
            <a:avLst/>
          </a:prstGeom>
          <a:noFill/>
          <a:ln/>
        </p:spPr>
        <p:txBody>
          <a:bodyPr wrap="square" lIns="0" tIns="0" rIns="0" bIns="0" rtlCol="0" anchor="ctr"/>
          <a:lstStyle/>
          <a:p>
            <a:pPr indent="0" marL="0">
              <a:buNone/>
            </a:pPr>
            <a:r>
              <a:rPr lang="en-US" sz="1300" b="1" spc="300" kern="0" dirty="0">
                <a:solidFill>
                  <a:schemeClr val="accent1"/>
                </a:solidFill>
                <a:latin typeface="IBM Plex Mono" pitchFamily="34" charset="0"/>
                <a:ea typeface="IBM Plex Mono" pitchFamily="34" charset="-122"/>
                <a:cs typeface="IBM Plex Mono" pitchFamily="34" charset="-120"/>
              </a:rPr>
              <a:t>WORKS</a:t>
            </a:r>
            <a:endParaRPr lang="en-US" sz="1300" dirty="0"/>
          </a:p>
        </p:txBody>
      </p:sp>
      <p:sp>
        <p:nvSpPr>
          <p:cNvPr id="25" name="Slide Number Placeholder 0"/>
          <p:cNvSpPr>
            <a:spLocks noGrp="1"/>
          </p:cNvSpPr>
          <p:nvPr>
            <p:ph type="sldNum" sz="quarter" idx="4294967295"/>
          </p:nvPr>
        </p:nvSpPr>
        <p:spPr>
          <a:xfrm>
            <a:off x="11064240"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latin typeface="IBM Plex Mono"/>
                <a:ea typeface="IBM Plex Mono"/>
                <a:cs typeface="IBM Plex Mon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4" type="body" hasCustomPrompt="1"/>
          </p:nvPr>
        </p:nvSpPr>
        <p:spPr>
          <a:xfrm>
            <a:off x="6858000" y="402336"/>
            <a:ext cx="4572000" cy="310896"/>
          </a:xfrm>
          <a:prstGeom prst="rect">
            <a:avLst/>
          </a:prstGeom>
          <a:noFill/>
          <a:ln/>
        </p:spPr>
        <p:txBody>
          <a:bodyPr wrap="square" lIns="0" tIns="0" rIns="0" bIns="0" rtlCol="0" anchor="ctr"/>
          <a:lstStyle/>
          <a:p>
            <a:pPr algn="r" indent="0" marL="0">
              <a:buNone/>
            </a:pPr>
            <a:r>
              <a:rPr lang="en-US" sz="1000" spc="300" kern="0" dirty="0">
                <a:solidFill>
                  <a:schemeClr val="tx2"/>
                </a:solidFill>
                <a:latin typeface="IBM Plex Mono" pitchFamily="34" charset="0"/>
                <a:ea typeface="IBM Plex Mono" pitchFamily="34" charset="-122"/>
                <a:cs typeface="IBM Plex Mono" pitchFamily="34" charset="-120"/>
              </a:rPr>
              <a:t>OUR APPROACH</a:t>
            </a:r>
            <a:endParaRPr lang="en-US" sz="1000" dirty="0"/>
          </a:p>
        </p:txBody>
      </p:sp>
      <p:sp>
        <p:nvSpPr>
          <p:cNvPr id="3" name="Text 2"/>
          <p:cNvSpPr/>
          <p:nvPr>
            <p:ph idx="105" type="title" hasCustomPrompt="1"/>
          </p:nvPr>
        </p:nvSpPr>
        <p:spPr>
          <a:xfrm>
            <a:off x="758952" y="1078992"/>
            <a:ext cx="10671048" cy="749808"/>
          </a:xfrm>
          <a:prstGeom prst="rect">
            <a:avLst/>
          </a:prstGeom>
          <a:noFill/>
          <a:ln/>
        </p:spPr>
        <p:txBody>
          <a:bodyPr wrap="square" lIns="0" tIns="0" rIns="0" bIns="0" rtlCol="0" anchor="t"/>
          <a:lstStyle/>
          <a:p>
            <a:pPr algn="l" indent="0" marL="0">
              <a:buNone/>
            </a:pPr>
            <a:r>
              <a:rPr lang="en-US" sz="3200" b="1" dirty="0">
                <a:solidFill>
                  <a:schemeClr val="tx1"/>
                </a:solidFill>
                <a:latin typeface="Chakra Petch" pitchFamily="34" charset="0"/>
                <a:ea typeface="Chakra Petch" pitchFamily="34" charset="-122"/>
                <a:cs typeface="Chakra Petch" pitchFamily="34" charset="-120"/>
              </a:rPr>
              <a:t>How it works: match the field to the map</a:t>
            </a:r>
            <a:endParaRPr lang="en-US" sz="3200" dirty="0"/>
          </a:p>
        </p:txBody>
      </p:sp>
      <p:sp>
        <p:nvSpPr>
          <p:cNvPr id="4" name="step 1 badge"/>
          <p:cNvSpPr/>
          <p:nvPr/>
        </p:nvSpPr>
        <p:spPr>
          <a:xfrm>
            <a:off x="758952" y="1965960"/>
            <a:ext cx="384048" cy="384048"/>
          </a:xfrm>
          <a:prstGeom prst="ellipse">
            <a:avLst/>
          </a:prstGeom>
          <a:solidFill>
            <a:schemeClr val="tx1"/>
          </a:solidFill>
          <a:ln/>
        </p:spPr>
      </p:sp>
      <p:sp>
        <p:nvSpPr>
          <p:cNvPr id="5" name="step 1 number"/>
          <p:cNvSpPr txBox="1"/>
          <p:nvPr/>
        </p:nvSpPr>
        <p:spPr>
          <a:xfrm>
            <a:off x="758952" y="1965960"/>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latin typeface="IBM Plex Mono" pitchFamily="34" charset="0"/>
                <a:ea typeface="IBM Plex Mono" pitchFamily="34" charset="-122"/>
                <a:cs typeface="IBM Plex Mono" pitchFamily="34" charset="-120"/>
              </a:rPr>
              <a:t>1</a:t>
            </a:r>
            <a:endParaRPr lang="en-US" sz="1200" dirty="0"/>
          </a:p>
        </p:txBody>
      </p:sp>
      <p:sp>
        <p:nvSpPr>
          <p:cNvPr id="6" name="step 1 name"/>
          <p:cNvSpPr txBox="1"/>
          <p:nvPr/>
        </p:nvSpPr>
        <p:spPr>
          <a:xfrm>
            <a:off x="1261872" y="1965960"/>
            <a:ext cx="1965960" cy="384048"/>
          </a:xfrm>
          <a:prstGeom prst="rect">
            <a:avLst/>
          </a:prstGeom>
          <a:noFill/>
          <a:ln/>
        </p:spPr>
        <p:txBody>
          <a:bodyPr wrap="square" lIns="0" tIns="0" rIns="0" bIns="0" rtlCol="0" anchor="ctr"/>
          <a:lstStyle/>
          <a:p>
            <a:pPr indent="0" marL="0">
              <a:buNone/>
            </a:pPr>
            <a:r>
              <a:rPr lang="en-US" sz="1100" b="1" spc="100" kern="0" dirty="0">
                <a:solidFill>
                  <a:schemeClr val="tx1"/>
                </a:solidFill>
                <a:latin typeface="IBM Plex Mono" pitchFamily="34" charset="0"/>
                <a:ea typeface="IBM Plex Mono" pitchFamily="34" charset="-122"/>
                <a:cs typeface="IBM Plex Mono" pitchFamily="34" charset="-120"/>
              </a:rPr>
              <a:t>INS DRIFTS</a:t>
            </a:r>
            <a:endParaRPr lang="en-US" sz="1100" dirty="0"/>
          </a:p>
        </p:txBody>
      </p:sp>
      <p:sp>
        <p:nvSpPr>
          <p:cNvPr id="7" name="step 1 text"/>
          <p:cNvSpPr txBox="1"/>
          <p:nvPr/>
        </p:nvSpPr>
        <p:spPr>
          <a:xfrm>
            <a:off x="758952" y="2441448"/>
            <a:ext cx="2468880" cy="640080"/>
          </a:xfrm>
          <a:prstGeom prst="rect">
            <a:avLst/>
          </a:prstGeom>
          <a:noFill/>
          <a:ln/>
        </p:spPr>
        <p:txBody>
          <a:bodyPr wrap="square" lIns="0" tIns="0" rIns="0" bIns="0" rtlCol="0" anchor="t"/>
          <a:lstStyle/>
          <a:p>
            <a:pPr indent="0" marL="0">
              <a:buNone/>
            </a:pPr>
            <a:r>
              <a:rPr lang="en-US" sz="1400" dirty="0">
                <a:solidFill>
                  <a:schemeClr val="tx1"/>
                </a:solidFill>
              </a:rPr>
              <a:t>GNSS is lost; the drone's IMU keeps going but drifts</a:t>
            </a:r>
            <a:endParaRPr lang="en-US" sz="1400" dirty="0"/>
          </a:p>
        </p:txBody>
      </p:sp>
      <p:sp>
        <p:nvSpPr>
          <p:cNvPr id="8" name="step 2 badge"/>
          <p:cNvSpPr/>
          <p:nvPr/>
        </p:nvSpPr>
        <p:spPr>
          <a:xfrm>
            <a:off x="3493008" y="1965960"/>
            <a:ext cx="384048" cy="384048"/>
          </a:xfrm>
          <a:prstGeom prst="ellipse">
            <a:avLst/>
          </a:prstGeom>
          <a:solidFill>
            <a:schemeClr val="tx1"/>
          </a:solidFill>
          <a:ln/>
        </p:spPr>
      </p:sp>
      <p:sp>
        <p:nvSpPr>
          <p:cNvPr id="9" name="step 2 number"/>
          <p:cNvSpPr txBox="1"/>
          <p:nvPr/>
        </p:nvSpPr>
        <p:spPr>
          <a:xfrm>
            <a:off x="3493008" y="1965960"/>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latin typeface="IBM Plex Mono" pitchFamily="34" charset="0"/>
                <a:ea typeface="IBM Plex Mono" pitchFamily="34" charset="-122"/>
                <a:cs typeface="IBM Plex Mono" pitchFamily="34" charset="-120"/>
              </a:rPr>
              <a:t>2</a:t>
            </a:r>
            <a:endParaRPr lang="en-US" sz="1200" dirty="0"/>
          </a:p>
        </p:txBody>
      </p:sp>
      <p:sp>
        <p:nvSpPr>
          <p:cNvPr id="10" name="step 2 name"/>
          <p:cNvSpPr txBox="1"/>
          <p:nvPr/>
        </p:nvSpPr>
        <p:spPr>
          <a:xfrm>
            <a:off x="3995928" y="1965960"/>
            <a:ext cx="1965960" cy="384048"/>
          </a:xfrm>
          <a:prstGeom prst="rect">
            <a:avLst/>
          </a:prstGeom>
          <a:noFill/>
          <a:ln/>
        </p:spPr>
        <p:txBody>
          <a:bodyPr wrap="square" lIns="0" tIns="0" rIns="0" bIns="0" rtlCol="0" anchor="ctr"/>
          <a:lstStyle/>
          <a:p>
            <a:pPr indent="0" marL="0">
              <a:buNone/>
            </a:pPr>
            <a:r>
              <a:rPr lang="en-US" sz="1100" b="1" spc="100" kern="0" dirty="0">
                <a:solidFill>
                  <a:schemeClr val="tx1"/>
                </a:solidFill>
                <a:latin typeface="IBM Plex Mono" pitchFamily="34" charset="0"/>
                <a:ea typeface="IBM Plex Mono" pitchFamily="34" charset="-122"/>
                <a:cs typeface="IBM Plex Mono" pitchFamily="34" charset="-120"/>
              </a:rPr>
              <a:t>QUANTUM SENSOR</a:t>
            </a:r>
            <a:endParaRPr lang="en-US" sz="1100" dirty="0"/>
          </a:p>
        </p:txBody>
      </p:sp>
      <p:sp>
        <p:nvSpPr>
          <p:cNvPr id="11" name="step 2 text"/>
          <p:cNvSpPr txBox="1"/>
          <p:nvPr/>
        </p:nvSpPr>
        <p:spPr>
          <a:xfrm>
            <a:off x="3493008" y="2441448"/>
            <a:ext cx="2468880" cy="640080"/>
          </a:xfrm>
          <a:prstGeom prst="rect">
            <a:avLst/>
          </a:prstGeom>
          <a:noFill/>
          <a:ln/>
        </p:spPr>
        <p:txBody>
          <a:bodyPr wrap="square" lIns="0" tIns="0" rIns="0" bIns="0" rtlCol="0" anchor="t"/>
          <a:lstStyle/>
          <a:p>
            <a:pPr indent="0" marL="0">
              <a:buNone/>
            </a:pPr>
            <a:r>
              <a:rPr lang="en-US" sz="1400" dirty="0">
                <a:solidFill>
                  <a:schemeClr val="tx1"/>
                </a:solidFill>
              </a:rPr>
              <a:t>An OPM reads the field strength to a few picotesla</a:t>
            </a:r>
            <a:endParaRPr lang="en-US" sz="1400" dirty="0"/>
          </a:p>
        </p:txBody>
      </p:sp>
      <p:sp>
        <p:nvSpPr>
          <p:cNvPr id="12" name="step 3 badge"/>
          <p:cNvSpPr/>
          <p:nvPr/>
        </p:nvSpPr>
        <p:spPr>
          <a:xfrm>
            <a:off x="6227064" y="1965960"/>
            <a:ext cx="384048" cy="384048"/>
          </a:xfrm>
          <a:prstGeom prst="ellipse">
            <a:avLst/>
          </a:prstGeom>
          <a:solidFill>
            <a:schemeClr val="tx1"/>
          </a:solidFill>
          <a:ln/>
        </p:spPr>
      </p:sp>
      <p:sp>
        <p:nvSpPr>
          <p:cNvPr id="13" name="step 3 number"/>
          <p:cNvSpPr txBox="1"/>
          <p:nvPr/>
        </p:nvSpPr>
        <p:spPr>
          <a:xfrm>
            <a:off x="6227064" y="1965960"/>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latin typeface="IBM Plex Mono" pitchFamily="34" charset="0"/>
                <a:ea typeface="IBM Plex Mono" pitchFamily="34" charset="-122"/>
                <a:cs typeface="IBM Plex Mono" pitchFamily="34" charset="-120"/>
              </a:rPr>
              <a:t>3</a:t>
            </a:r>
            <a:endParaRPr lang="en-US" sz="1200" dirty="0"/>
          </a:p>
        </p:txBody>
      </p:sp>
      <p:sp>
        <p:nvSpPr>
          <p:cNvPr id="14" name="step 3 name"/>
          <p:cNvSpPr txBox="1"/>
          <p:nvPr/>
        </p:nvSpPr>
        <p:spPr>
          <a:xfrm>
            <a:off x="6729984" y="1965960"/>
            <a:ext cx="1965960" cy="384048"/>
          </a:xfrm>
          <a:prstGeom prst="rect">
            <a:avLst/>
          </a:prstGeom>
          <a:noFill/>
          <a:ln/>
        </p:spPr>
        <p:txBody>
          <a:bodyPr wrap="square" lIns="0" tIns="0" rIns="0" bIns="0" rtlCol="0" anchor="ctr"/>
          <a:lstStyle/>
          <a:p>
            <a:pPr indent="0" marL="0">
              <a:buNone/>
            </a:pPr>
            <a:r>
              <a:rPr lang="en-US" sz="1100" b="1" spc="100" kern="0" dirty="0">
                <a:solidFill>
                  <a:schemeClr val="tx1"/>
                </a:solidFill>
                <a:latin typeface="IBM Plex Mono" pitchFamily="34" charset="0"/>
                <a:ea typeface="IBM Plex Mono" pitchFamily="34" charset="-122"/>
                <a:cs typeface="IBM Plex Mono" pitchFamily="34" charset="-120"/>
              </a:rPr>
              <a:t>PARTICLE FILTER</a:t>
            </a:r>
            <a:endParaRPr lang="en-US" sz="1100" dirty="0"/>
          </a:p>
        </p:txBody>
      </p:sp>
      <p:sp>
        <p:nvSpPr>
          <p:cNvPr id="15" name="step 3 text"/>
          <p:cNvSpPr txBox="1"/>
          <p:nvPr/>
        </p:nvSpPr>
        <p:spPr>
          <a:xfrm>
            <a:off x="6227064" y="2441448"/>
            <a:ext cx="2468880" cy="640080"/>
          </a:xfrm>
          <a:prstGeom prst="rect">
            <a:avLst/>
          </a:prstGeom>
          <a:noFill/>
          <a:ln/>
        </p:spPr>
        <p:txBody>
          <a:bodyPr wrap="square" lIns="0" tIns="0" rIns="0" bIns="0" rtlCol="0" anchor="t"/>
          <a:lstStyle/>
          <a:p>
            <a:pPr indent="0" marL="0">
              <a:buNone/>
            </a:pPr>
            <a:r>
              <a:rPr lang="en-US" sz="1400" dirty="0">
                <a:solidFill>
                  <a:schemeClr val="tx1"/>
                </a:solidFill>
              </a:rPr>
              <a:t>3,000 guesses are scored against the Tellus map</a:t>
            </a:r>
            <a:endParaRPr lang="en-US" sz="1400" dirty="0"/>
          </a:p>
        </p:txBody>
      </p:sp>
      <p:sp>
        <p:nvSpPr>
          <p:cNvPr id="16" name="step 4 badge"/>
          <p:cNvSpPr/>
          <p:nvPr/>
        </p:nvSpPr>
        <p:spPr>
          <a:xfrm>
            <a:off x="8961120" y="1965960"/>
            <a:ext cx="384048" cy="384048"/>
          </a:xfrm>
          <a:prstGeom prst="ellipse">
            <a:avLst/>
          </a:prstGeom>
          <a:solidFill>
            <a:schemeClr val="tx1"/>
          </a:solidFill>
          <a:ln/>
        </p:spPr>
      </p:sp>
      <p:sp>
        <p:nvSpPr>
          <p:cNvPr id="17" name="step 4 number"/>
          <p:cNvSpPr txBox="1"/>
          <p:nvPr/>
        </p:nvSpPr>
        <p:spPr>
          <a:xfrm>
            <a:off x="8961120" y="1965960"/>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latin typeface="IBM Plex Mono" pitchFamily="34" charset="0"/>
                <a:ea typeface="IBM Plex Mono" pitchFamily="34" charset="-122"/>
                <a:cs typeface="IBM Plex Mono" pitchFamily="34" charset="-120"/>
              </a:rPr>
              <a:t>4</a:t>
            </a:r>
            <a:endParaRPr lang="en-US" sz="1200" dirty="0"/>
          </a:p>
        </p:txBody>
      </p:sp>
      <p:sp>
        <p:nvSpPr>
          <p:cNvPr id="18" name="step 4 name"/>
          <p:cNvSpPr txBox="1"/>
          <p:nvPr/>
        </p:nvSpPr>
        <p:spPr>
          <a:xfrm>
            <a:off x="9464040" y="1965960"/>
            <a:ext cx="1965960" cy="384048"/>
          </a:xfrm>
          <a:prstGeom prst="rect">
            <a:avLst/>
          </a:prstGeom>
          <a:noFill/>
          <a:ln/>
        </p:spPr>
        <p:txBody>
          <a:bodyPr wrap="square" lIns="0" tIns="0" rIns="0" bIns="0" rtlCol="0" anchor="ctr"/>
          <a:lstStyle/>
          <a:p>
            <a:pPr indent="0" marL="0">
              <a:buNone/>
            </a:pPr>
            <a:r>
              <a:rPr lang="en-US" sz="1100" b="1" spc="100" kern="0" dirty="0">
                <a:solidFill>
                  <a:schemeClr val="tx1"/>
                </a:solidFill>
                <a:latin typeface="IBM Plex Mono" pitchFamily="34" charset="0"/>
                <a:ea typeface="IBM Plex Mono" pitchFamily="34" charset="-122"/>
                <a:cs typeface="IBM Plex Mono" pitchFamily="34" charset="-120"/>
              </a:rPr>
              <a:t>BOUNDED FIX</a:t>
            </a:r>
            <a:endParaRPr lang="en-US" sz="1100" dirty="0"/>
          </a:p>
        </p:txBody>
      </p:sp>
      <p:sp>
        <p:nvSpPr>
          <p:cNvPr id="19" name="step 4 text"/>
          <p:cNvSpPr txBox="1"/>
          <p:nvPr/>
        </p:nvSpPr>
        <p:spPr>
          <a:xfrm>
            <a:off x="8961120" y="2441448"/>
            <a:ext cx="2468880" cy="640080"/>
          </a:xfrm>
          <a:prstGeom prst="rect">
            <a:avLst/>
          </a:prstGeom>
          <a:noFill/>
          <a:ln/>
        </p:spPr>
        <p:txBody>
          <a:bodyPr wrap="square" lIns="0" tIns="0" rIns="0" bIns="0" rtlCol="0" anchor="t"/>
          <a:lstStyle/>
          <a:p>
            <a:pPr indent="0" marL="0">
              <a:buNone/>
            </a:pPr>
            <a:r>
              <a:rPr lang="en-US" sz="1400" dirty="0">
                <a:solidFill>
                  <a:schemeClr val="tx1"/>
                </a:solidFill>
              </a:rPr>
              <a:t>Position with an honest error bar, every half second</a:t>
            </a:r>
            <a:endParaRPr lang="en-US" sz="1400" dirty="0"/>
          </a:p>
        </p:txBody>
      </p:sp>
      <p:pic>
        <p:nvPicPr>
          <p:cNvPr id="20" name="filter illustration" descr="/tmp/claude-0/-home-claude/db79777d-d733-5547-bcd2-6143ee6bb461/scratchpad/deck/assets/pf_illustration.png">    </p:cNvPr>
          <p:cNvPicPr>
            <a:picLocks noChangeAspect="1"/>
          </p:cNvPicPr>
          <p:nvPr/>
        </p:nvPicPr>
        <p:blipFill>
          <a:blip r:embed="rId1"/>
          <a:stretch>
            <a:fillRect/>
          </a:stretch>
        </p:blipFill>
        <p:spPr>
          <a:xfrm>
            <a:off x="2135581" y="3035808"/>
            <a:ext cx="7920533" cy="3246120"/>
          </a:xfrm>
          <a:prstGeom prst="rect">
            <a:avLst/>
          </a:prstGeom>
        </p:spPr>
      </p:pic>
      <p:sp>
        <p:nvSpPr>
          <p:cNvPr id="25" name="Slide Number Placeholder 0"/>
          <p:cNvSpPr>
            <a:spLocks noGrp="1"/>
          </p:cNvSpPr>
          <p:nvPr>
            <p:ph type="sldNum" sz="quarter" idx="4294967295"/>
          </p:nvPr>
        </p:nvSpPr>
        <p:spPr>
          <a:xfrm>
            <a:off x="11064240"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latin typeface="IBM Plex Mono"/>
                <a:ea typeface="IBM Plex Mono"/>
                <a:cs typeface="IBM Plex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4" type="body" hasCustomPrompt="1"/>
          </p:nvPr>
        </p:nvSpPr>
        <p:spPr>
          <a:xfrm>
            <a:off x="6858000" y="402336"/>
            <a:ext cx="4572000" cy="310896"/>
          </a:xfrm>
          <a:prstGeom prst="rect">
            <a:avLst/>
          </a:prstGeom>
          <a:noFill/>
          <a:ln/>
        </p:spPr>
        <p:txBody>
          <a:bodyPr wrap="square" lIns="0" tIns="0" rIns="0" bIns="0" rtlCol="0" anchor="ctr"/>
          <a:lstStyle/>
          <a:p>
            <a:pPr algn="r" indent="0" marL="0">
              <a:buNone/>
            </a:pPr>
            <a:r>
              <a:rPr lang="en-US" sz="1000" spc="300" kern="0" dirty="0">
                <a:solidFill>
                  <a:schemeClr val="tx2"/>
                </a:solidFill>
                <a:latin typeface="IBM Plex Mono" pitchFamily="34" charset="0"/>
                <a:ea typeface="IBM Plex Mono" pitchFamily="34" charset="-122"/>
                <a:cs typeface="IBM Plex Mono" pitchFamily="34" charset="-120"/>
              </a:rPr>
              <a:t>WHY QUANTUM</a:t>
            </a:r>
            <a:endParaRPr lang="en-US" sz="1000" dirty="0"/>
          </a:p>
        </p:txBody>
      </p:sp>
      <p:sp>
        <p:nvSpPr>
          <p:cNvPr id="3" name="Text 2"/>
          <p:cNvSpPr/>
          <p:nvPr>
            <p:ph idx="105" type="title" hasCustomPrompt="1"/>
          </p:nvPr>
        </p:nvSpPr>
        <p:spPr>
          <a:xfrm>
            <a:off x="758952" y="1078992"/>
            <a:ext cx="10671048" cy="749808"/>
          </a:xfrm>
          <a:prstGeom prst="rect">
            <a:avLst/>
          </a:prstGeom>
          <a:noFill/>
          <a:ln/>
        </p:spPr>
        <p:txBody>
          <a:bodyPr wrap="square" lIns="0" tIns="0" rIns="0" bIns="0" rtlCol="0" anchor="t"/>
          <a:lstStyle/>
          <a:p>
            <a:pPr algn="l" indent="0" marL="0">
              <a:buNone/>
            </a:pPr>
            <a:r>
              <a:rPr lang="en-US" sz="3200" b="1" dirty="0">
                <a:solidFill>
                  <a:schemeClr val="tx1"/>
                </a:solidFill>
                <a:latin typeface="Chakra Petch" pitchFamily="34" charset="0"/>
                <a:ea typeface="Chakra Petch" pitchFamily="34" charset="-122"/>
                <a:cs typeface="Chakra Petch" pitchFamily="34" charset="-120"/>
              </a:rPr>
              <a:t>Why quantum: a normal compass can't see the map</a:t>
            </a:r>
            <a:endParaRPr lang="en-US" sz="3200" dirty="0"/>
          </a:p>
        </p:txBody>
      </p:sp>
      <p:graphicFrame>
        <p:nvGraphicFramePr>
          <p:cNvPr id="4" name="error vs signal chart" descr=""/>
          <p:cNvGraphicFramePr/>
          <p:nvPr/>
        </p:nvGraphicFramePr>
        <p:xfrm>
          <a:off x="758952" y="1920240"/>
          <a:ext cx="6675120" cy="4206240"/>
        </p:xfrm>
        <a:graphic xmlns:a="http://schemas.openxmlformats.org/drawingml/2006/main">
          <a:graphicData uri="http://schemas.openxmlformats.org/drawingml/2006/chart">
            <c:chart xmlns:c="http://schemas.openxmlformats.org/drawingml/2006/chart" r:id="rId1"/>
          </a:graphicData>
        </a:graphic>
      </p:graphicFrame>
      <p:sp>
        <p:nvSpPr>
          <p:cNvPr id="5" name="callout card 1"/>
          <p:cNvSpPr/>
          <p:nvPr/>
        </p:nvSpPr>
        <p:spPr>
          <a:xfrm>
            <a:off x="7818120" y="2011680"/>
            <a:ext cx="3611880" cy="1874520"/>
          </a:xfrm>
          <a:prstGeom prst="roundRect">
            <a:avLst>
              <a:gd name="adj" fmla="val 2927"/>
            </a:avLst>
          </a:prstGeom>
          <a:solidFill>
            <a:schemeClr val="bg2"/>
          </a:solidFill>
          <a:ln w="12700">
            <a:solidFill>
              <a:schemeClr val="accent5"/>
            </a:solidFill>
            <a:prstDash val="solid"/>
          </a:ln>
        </p:spPr>
      </p:sp>
      <p:sp>
        <p:nvSpPr>
          <p:cNvPr id="6" name="stat value"/>
          <p:cNvSpPr txBox="1"/>
          <p:nvPr/>
        </p:nvSpPr>
        <p:spPr>
          <a:xfrm>
            <a:off x="8092440" y="2148840"/>
            <a:ext cx="3108960" cy="640080"/>
          </a:xfrm>
          <a:prstGeom prst="rect">
            <a:avLst/>
          </a:prstGeom>
          <a:noFill/>
          <a:ln/>
        </p:spPr>
        <p:txBody>
          <a:bodyPr wrap="square" lIns="0" tIns="0" rIns="0" bIns="0" rtlCol="0" anchor="b"/>
          <a:lstStyle/>
          <a:p>
            <a:pPr indent="0" marL="0">
              <a:buNone/>
            </a:pPr>
            <a:r>
              <a:rPr lang="en-US" sz="3400" b="1" dirty="0">
                <a:solidFill>
                  <a:schemeClr val="tx1"/>
                </a:solidFill>
                <a:latin typeface="Chakra Petch" pitchFamily="34" charset="0"/>
                <a:ea typeface="Chakra Petch" pitchFamily="34" charset="-122"/>
                <a:cs typeface="Chakra Petch" pitchFamily="34" charset="-120"/>
              </a:rPr>
              <a:t>7 Hz/nT</a:t>
            </a:r>
            <a:endParaRPr lang="en-US" sz="3400" dirty="0"/>
          </a:p>
        </p:txBody>
      </p:sp>
      <p:sp>
        <p:nvSpPr>
          <p:cNvPr id="7" name="stat label"/>
          <p:cNvSpPr txBox="1"/>
          <p:nvPr/>
        </p:nvSpPr>
        <p:spPr>
          <a:xfrm>
            <a:off x="8092440" y="2862072"/>
            <a:ext cx="3108960" cy="868680"/>
          </a:xfrm>
          <a:prstGeom prst="rect">
            <a:avLst/>
          </a:prstGeom>
          <a:noFill/>
          <a:ln/>
        </p:spPr>
        <p:txBody>
          <a:bodyPr wrap="square" lIns="0" tIns="0" rIns="0" bIns="0" rtlCol="0" anchor="t"/>
          <a:lstStyle/>
          <a:p>
            <a:pPr indent="0" marL="0">
              <a:buNone/>
            </a:pPr>
            <a:r>
              <a:rPr lang="en-US" sz="1400" dirty="0">
                <a:solidFill>
                  <a:schemeClr val="tx1"/>
                </a:solidFill>
              </a:rPr>
              <a:t>Rubidium spins precess at a rate set by nature. No drift, no calibration decay.</a:t>
            </a:r>
            <a:endParaRPr lang="en-US" sz="1400" dirty="0"/>
          </a:p>
        </p:txBody>
      </p:sp>
      <p:sp>
        <p:nvSpPr>
          <p:cNvPr id="8" name="callout card 2"/>
          <p:cNvSpPr/>
          <p:nvPr/>
        </p:nvSpPr>
        <p:spPr>
          <a:xfrm>
            <a:off x="7818120" y="4069080"/>
            <a:ext cx="3611880" cy="1874520"/>
          </a:xfrm>
          <a:prstGeom prst="roundRect">
            <a:avLst>
              <a:gd name="adj" fmla="val 2927"/>
            </a:avLst>
          </a:prstGeom>
          <a:solidFill>
            <a:schemeClr val="bg2"/>
          </a:solidFill>
          <a:ln w="12700">
            <a:solidFill>
              <a:schemeClr val="accent5"/>
            </a:solidFill>
            <a:prstDash val="solid"/>
          </a:ln>
        </p:spPr>
      </p:sp>
      <p:sp>
        <p:nvSpPr>
          <p:cNvPr id="9" name="stat value"/>
          <p:cNvSpPr txBox="1"/>
          <p:nvPr/>
        </p:nvSpPr>
        <p:spPr>
          <a:xfrm>
            <a:off x="8092440" y="4206240"/>
            <a:ext cx="3108960" cy="640080"/>
          </a:xfrm>
          <a:prstGeom prst="rect">
            <a:avLst/>
          </a:prstGeom>
          <a:noFill/>
          <a:ln/>
        </p:spPr>
        <p:txBody>
          <a:bodyPr wrap="square" lIns="0" tIns="0" rIns="0" bIns="0" rtlCol="0" anchor="b"/>
          <a:lstStyle/>
          <a:p>
            <a:pPr indent="0" marL="0">
              <a:buNone/>
            </a:pPr>
            <a:r>
              <a:rPr lang="en-US" sz="3400" b="1" dirty="0">
                <a:solidFill>
                  <a:schemeClr val="tx1"/>
                </a:solidFill>
                <a:latin typeface="Chakra Petch" pitchFamily="34" charset="0"/>
                <a:ea typeface="Chakra Petch" pitchFamily="34" charset="-122"/>
                <a:cs typeface="Chakra Petch" pitchFamily="34" charset="-120"/>
              </a:rPr>
              <a:t>3 pT</a:t>
            </a:r>
            <a:endParaRPr lang="en-US" sz="3400" dirty="0"/>
          </a:p>
        </p:txBody>
      </p:sp>
      <p:sp>
        <p:nvSpPr>
          <p:cNvPr id="10" name="stat label"/>
          <p:cNvSpPr txBox="1"/>
          <p:nvPr/>
        </p:nvSpPr>
        <p:spPr>
          <a:xfrm>
            <a:off x="8092440" y="4919472"/>
            <a:ext cx="3108960" cy="868680"/>
          </a:xfrm>
          <a:prstGeom prst="rect">
            <a:avLst/>
          </a:prstGeom>
          <a:noFill/>
          <a:ln/>
        </p:spPr>
        <p:txBody>
          <a:bodyPr wrap="square" lIns="0" tIns="0" rIns="0" bIns="0" rtlCol="0" anchor="t"/>
          <a:lstStyle/>
          <a:p>
            <a:pPr indent="0" marL="0">
              <a:buNone/>
            </a:pPr>
            <a:r>
              <a:rPr lang="en-US" sz="1400" dirty="0">
                <a:solidFill>
                  <a:schemeClr val="tx1"/>
                </a:solidFill>
              </a:rPr>
              <a:t>noise floor, thousands of times finer than the anomalies on the map</a:t>
            </a:r>
            <a:endParaRPr lang="en-US" sz="1400" dirty="0"/>
          </a:p>
        </p:txBody>
      </p:sp>
      <p:sp>
        <p:nvSpPr>
          <p:cNvPr id="25" name="Slide Number Placeholder 0"/>
          <p:cNvSpPr>
            <a:spLocks noGrp="1"/>
          </p:cNvSpPr>
          <p:nvPr>
            <p:ph type="sldNum" sz="quarter" idx="4294967295"/>
          </p:nvPr>
        </p:nvSpPr>
        <p:spPr>
          <a:xfrm>
            <a:off x="11064240"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latin typeface="IBM Plex Mono"/>
                <a:ea typeface="IBM Plex Mono"/>
                <a:cs typeface="IBM Plex Mon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4" type="body" hasCustomPrompt="1"/>
          </p:nvPr>
        </p:nvSpPr>
        <p:spPr>
          <a:xfrm>
            <a:off x="6858000" y="402336"/>
            <a:ext cx="4572000" cy="310896"/>
          </a:xfrm>
          <a:prstGeom prst="rect">
            <a:avLst/>
          </a:prstGeom>
          <a:noFill/>
          <a:ln/>
        </p:spPr>
        <p:txBody>
          <a:bodyPr wrap="square" lIns="0" tIns="0" rIns="0" bIns="0" rtlCol="0" anchor="ctr"/>
          <a:lstStyle/>
          <a:p>
            <a:pPr algn="r" indent="0" marL="0">
              <a:buNone/>
            </a:pPr>
            <a:r>
              <a:rPr lang="en-US" sz="1000" spc="300" kern="0" dirty="0">
                <a:solidFill>
                  <a:schemeClr val="tx2"/>
                </a:solidFill>
                <a:latin typeface="IBM Plex Mono" pitchFamily="34" charset="0"/>
                <a:ea typeface="IBM Plex Mono" pitchFamily="34" charset="-122"/>
                <a:cs typeface="IBM Plex Mono" pitchFamily="34" charset="-120"/>
              </a:rPr>
              <a:t>WHY IT WINS</a:t>
            </a:r>
            <a:endParaRPr lang="en-US" sz="1000" dirty="0"/>
          </a:p>
        </p:txBody>
      </p:sp>
      <p:sp>
        <p:nvSpPr>
          <p:cNvPr id="3" name="Text 2"/>
          <p:cNvSpPr/>
          <p:nvPr>
            <p:ph idx="105" type="title" hasCustomPrompt="1"/>
          </p:nvPr>
        </p:nvSpPr>
        <p:spPr>
          <a:xfrm>
            <a:off x="758952" y="1078992"/>
            <a:ext cx="10671048" cy="749808"/>
          </a:xfrm>
          <a:prstGeom prst="rect">
            <a:avLst/>
          </a:prstGeom>
          <a:noFill/>
          <a:ln/>
        </p:spPr>
        <p:txBody>
          <a:bodyPr wrap="square" lIns="0" tIns="0" rIns="0" bIns="0" rtlCol="0" anchor="t"/>
          <a:lstStyle/>
          <a:p>
            <a:pPr algn="l" indent="0" marL="0">
              <a:buNone/>
            </a:pPr>
            <a:r>
              <a:rPr lang="en-US" sz="3200" b="1" dirty="0">
                <a:solidFill>
                  <a:schemeClr val="tx1"/>
                </a:solidFill>
                <a:latin typeface="Chakra Petch" pitchFamily="34" charset="0"/>
                <a:ea typeface="Chakra Petch" pitchFamily="34" charset="-122"/>
                <a:cs typeface="Chakra Petch" pitchFamily="34" charset="-120"/>
              </a:rPr>
              <a:t>You can't jam it from a distance</a:t>
            </a:r>
            <a:endParaRPr lang="en-US" sz="3200" dirty="0"/>
          </a:p>
        </p:txBody>
      </p:sp>
      <p:sp>
        <p:nvSpPr>
          <p:cNvPr id="4" name="GPS card"/>
          <p:cNvSpPr/>
          <p:nvPr/>
        </p:nvSpPr>
        <p:spPr>
          <a:xfrm>
            <a:off x="758952" y="1965960"/>
            <a:ext cx="5120640" cy="2331720"/>
          </a:xfrm>
          <a:prstGeom prst="roundRect">
            <a:avLst>
              <a:gd name="adj" fmla="val 2353"/>
            </a:avLst>
          </a:prstGeom>
          <a:solidFill>
            <a:schemeClr val="bg2"/>
          </a:solidFill>
          <a:ln w="12700">
            <a:solidFill>
              <a:schemeClr val="accent5"/>
            </a:solidFill>
            <a:prstDash val="solid"/>
          </a:ln>
        </p:spPr>
      </p:sp>
      <p:sp>
        <p:nvSpPr>
          <p:cNvPr id="5" name="stat value"/>
          <p:cNvSpPr txBox="1"/>
          <p:nvPr/>
        </p:nvSpPr>
        <p:spPr>
          <a:xfrm>
            <a:off x="1078992" y="2103120"/>
            <a:ext cx="4480560" cy="914400"/>
          </a:xfrm>
          <a:prstGeom prst="rect">
            <a:avLst/>
          </a:prstGeom>
          <a:noFill/>
          <a:ln/>
        </p:spPr>
        <p:txBody>
          <a:bodyPr wrap="square" lIns="0" tIns="0" rIns="0" bIns="0" rtlCol="0" anchor="b"/>
          <a:lstStyle/>
          <a:p>
            <a:pPr indent="0" marL="0">
              <a:buNone/>
            </a:pPr>
            <a:r>
              <a:rPr lang="en-US" sz="5400" b="1" dirty="0">
                <a:solidFill>
                  <a:schemeClr val="accent3"/>
                </a:solidFill>
                <a:latin typeface="Chakra Petch" pitchFamily="34" charset="0"/>
                <a:ea typeface="Chakra Petch" pitchFamily="34" charset="-122"/>
                <a:cs typeface="Chakra Petch" pitchFamily="34" charset="-120"/>
              </a:rPr>
              <a:t>~1 W</a:t>
            </a:r>
            <a:endParaRPr lang="en-US" sz="5400" dirty="0"/>
          </a:p>
        </p:txBody>
      </p:sp>
      <p:sp>
        <p:nvSpPr>
          <p:cNvPr id="6" name="stat label"/>
          <p:cNvSpPr txBox="1"/>
          <p:nvPr/>
        </p:nvSpPr>
        <p:spPr>
          <a:xfrm>
            <a:off x="1078992" y="3090672"/>
            <a:ext cx="4480560" cy="548640"/>
          </a:xfrm>
          <a:prstGeom prst="rect">
            <a:avLst/>
          </a:prstGeom>
          <a:noFill/>
          <a:ln/>
        </p:spPr>
        <p:txBody>
          <a:bodyPr wrap="square" lIns="0" tIns="0" rIns="0" bIns="0" rtlCol="0" anchor="t"/>
          <a:lstStyle/>
          <a:p>
            <a:pPr indent="0" marL="0">
              <a:buNone/>
            </a:pPr>
            <a:r>
              <a:rPr lang="en-US" sz="1600" dirty="0">
                <a:solidFill>
                  <a:schemeClr val="tx1"/>
                </a:solidFill>
              </a:rPr>
              <a:t>radio jammer overpowers GPS 16,000× at 10 km</a:t>
            </a:r>
            <a:endParaRPr lang="en-US" sz="1600" dirty="0"/>
          </a:p>
        </p:txBody>
      </p:sp>
      <p:sp>
        <p:nvSpPr>
          <p:cNvPr id="7" name="stat source"/>
          <p:cNvSpPr txBox="1"/>
          <p:nvPr/>
        </p:nvSpPr>
        <p:spPr>
          <a:xfrm>
            <a:off x="1078992" y="3639312"/>
            <a:ext cx="4480560" cy="274320"/>
          </a:xfrm>
          <a:prstGeom prst="rect">
            <a:avLst/>
          </a:prstGeom>
          <a:noFill/>
          <a:ln/>
        </p:spPr>
        <p:txBody>
          <a:bodyPr wrap="square" lIns="0" tIns="0" rIns="0" bIns="0" rtlCol="0" anchor="t"/>
          <a:lstStyle/>
          <a:p>
            <a:pPr indent="0" marL="0">
              <a:buNone/>
            </a:pPr>
            <a:r>
              <a:rPr lang="en-US" sz="1000" dirty="0">
                <a:solidFill>
                  <a:schemeClr val="tx2"/>
                </a:solidFill>
              </a:rPr>
              <a:t>GPS reaches the ground at ~10⁻¹⁶ W (IS-GPS-200)</a:t>
            </a:r>
            <a:endParaRPr lang="en-US" sz="1000" dirty="0"/>
          </a:p>
        </p:txBody>
      </p:sp>
      <p:sp>
        <p:nvSpPr>
          <p:cNvPr id="8" name="MagNav card"/>
          <p:cNvSpPr/>
          <p:nvPr/>
        </p:nvSpPr>
        <p:spPr>
          <a:xfrm>
            <a:off x="6309360" y="1965960"/>
            <a:ext cx="5120640" cy="2331720"/>
          </a:xfrm>
          <a:prstGeom prst="roundRect">
            <a:avLst>
              <a:gd name="adj" fmla="val 2353"/>
            </a:avLst>
          </a:prstGeom>
          <a:solidFill>
            <a:schemeClr val="tx1"/>
          </a:solidFill>
          <a:ln w="12700">
            <a:solidFill>
              <a:schemeClr val="tx1"/>
            </a:solidFill>
            <a:prstDash val="solid"/>
          </a:ln>
        </p:spPr>
      </p:sp>
      <p:sp>
        <p:nvSpPr>
          <p:cNvPr id="9" name="MagNav value"/>
          <p:cNvSpPr txBox="1"/>
          <p:nvPr/>
        </p:nvSpPr>
        <p:spPr>
          <a:xfrm>
            <a:off x="6629400" y="2103120"/>
            <a:ext cx="4480560" cy="914400"/>
          </a:xfrm>
          <a:prstGeom prst="rect">
            <a:avLst/>
          </a:prstGeom>
          <a:noFill/>
          <a:ln/>
        </p:spPr>
        <p:txBody>
          <a:bodyPr wrap="square" lIns="0" tIns="0" rIns="0" bIns="0" rtlCol="0" anchor="b"/>
          <a:lstStyle/>
          <a:p>
            <a:pPr indent="0" marL="0">
              <a:buNone/>
            </a:pPr>
            <a:r>
              <a:rPr lang="en-US" sz="5400" b="1" dirty="0">
                <a:solidFill>
                  <a:schemeClr val="accent1"/>
                </a:solidFill>
                <a:latin typeface="Chakra Petch" pitchFamily="34" charset="0"/>
                <a:ea typeface="Chakra Petch" pitchFamily="34" charset="-122"/>
                <a:cs typeface="Chakra Petch" pitchFamily="34" charset="-120"/>
              </a:rPr>
              <a:t>~3 TW</a:t>
            </a:r>
            <a:endParaRPr lang="en-US" sz="5400" dirty="0"/>
          </a:p>
        </p:txBody>
      </p:sp>
      <p:sp>
        <p:nvSpPr>
          <p:cNvPr id="10" name="MagNav label"/>
          <p:cNvSpPr txBox="1"/>
          <p:nvPr/>
        </p:nvSpPr>
        <p:spPr>
          <a:xfrm>
            <a:off x="6629400" y="3090672"/>
            <a:ext cx="4480560" cy="822960"/>
          </a:xfrm>
          <a:prstGeom prst="rect">
            <a:avLst/>
          </a:prstGeom>
          <a:noFill/>
          <a:ln/>
        </p:spPr>
        <p:txBody>
          <a:bodyPr wrap="square" lIns="0" tIns="0" rIns="0" bIns="0" rtlCol="0" anchor="t"/>
          <a:lstStyle/>
          <a:p>
            <a:pPr indent="0" marL="0">
              <a:buNone/>
            </a:pPr>
            <a:r>
              <a:rPr lang="en-US" sz="1600" dirty="0">
                <a:solidFill>
                  <a:schemeClr val="bg1"/>
                </a:solidFill>
              </a:rPr>
              <a:t>to shift the field by just 10 nT at 10 km: about the average output of every power station on Earth</a:t>
            </a:r>
            <a:endParaRPr lang="en-US" sz="1600" dirty="0"/>
          </a:p>
        </p:txBody>
      </p:sp>
      <p:sp>
        <p:nvSpPr>
          <p:cNvPr id="11" name="range 1"/>
          <p:cNvSpPr txBox="1"/>
          <p:nvPr/>
        </p:nvSpPr>
        <p:spPr>
          <a:xfrm>
            <a:off x="758952" y="4709160"/>
            <a:ext cx="1828800" cy="365760"/>
          </a:xfrm>
          <a:prstGeom prst="rect">
            <a:avLst/>
          </a:prstGeom>
          <a:noFill/>
          <a:ln/>
        </p:spPr>
        <p:txBody>
          <a:bodyPr wrap="square" lIns="0" tIns="0" rIns="0" bIns="0" rtlCol="0" anchor="ctr"/>
          <a:lstStyle/>
          <a:p>
            <a:pPr indent="0" marL="0">
              <a:buNone/>
            </a:pPr>
            <a:r>
              <a:rPr lang="en-US" sz="1200" dirty="0">
                <a:solidFill>
                  <a:schemeClr val="tx2"/>
                </a:solidFill>
                <a:latin typeface="IBM Plex Mono" pitchFamily="34" charset="0"/>
                <a:ea typeface="IBM Plex Mono" pitchFamily="34" charset="-122"/>
                <a:cs typeface="IBM Plex Mono" pitchFamily="34" charset="-120"/>
              </a:rPr>
              <a:t>100 m</a:t>
            </a:r>
            <a:endParaRPr lang="en-US" sz="1200" dirty="0"/>
          </a:p>
        </p:txBody>
      </p:sp>
      <p:sp>
        <p:nvSpPr>
          <p:cNvPr id="12" name="power 1"/>
          <p:cNvSpPr txBox="1"/>
          <p:nvPr/>
        </p:nvSpPr>
        <p:spPr>
          <a:xfrm>
            <a:off x="758952" y="5029200"/>
            <a:ext cx="1828800" cy="502920"/>
          </a:xfrm>
          <a:prstGeom prst="rect">
            <a:avLst/>
          </a:prstGeom>
          <a:noFill/>
          <a:ln/>
        </p:spPr>
        <p:txBody>
          <a:bodyPr wrap="square" lIns="0" tIns="0" rIns="0" bIns="0" rtlCol="0" anchor="ctr"/>
          <a:lstStyle/>
          <a:p>
            <a:pPr indent="0" marL="0">
              <a:buNone/>
            </a:pPr>
            <a:r>
              <a:rPr lang="en-US" sz="2600" b="1" dirty="0">
                <a:solidFill>
                  <a:schemeClr val="tx1"/>
                </a:solidFill>
                <a:latin typeface="Chakra Petch" pitchFamily="34" charset="0"/>
                <a:ea typeface="Chakra Petch" pitchFamily="34" charset="-122"/>
                <a:cs typeface="Chakra Petch" pitchFamily="34" charset="-120"/>
              </a:rPr>
              <a:t>~3 W</a:t>
            </a:r>
            <a:endParaRPr lang="en-US" sz="2600" dirty="0"/>
          </a:p>
        </p:txBody>
      </p:sp>
      <p:sp>
        <p:nvSpPr>
          <p:cNvPr id="13" name="range 2"/>
          <p:cNvSpPr txBox="1"/>
          <p:nvPr/>
        </p:nvSpPr>
        <p:spPr>
          <a:xfrm>
            <a:off x="2770632" y="4709160"/>
            <a:ext cx="1828800" cy="365760"/>
          </a:xfrm>
          <a:prstGeom prst="rect">
            <a:avLst/>
          </a:prstGeom>
          <a:noFill/>
          <a:ln/>
        </p:spPr>
        <p:txBody>
          <a:bodyPr wrap="square" lIns="0" tIns="0" rIns="0" bIns="0" rtlCol="0" anchor="ctr"/>
          <a:lstStyle/>
          <a:p>
            <a:pPr indent="0" marL="0">
              <a:buNone/>
            </a:pPr>
            <a:r>
              <a:rPr lang="en-US" sz="1200" dirty="0">
                <a:solidFill>
                  <a:schemeClr val="tx2"/>
                </a:solidFill>
                <a:latin typeface="IBM Plex Mono" pitchFamily="34" charset="0"/>
                <a:ea typeface="IBM Plex Mono" pitchFamily="34" charset="-122"/>
                <a:cs typeface="IBM Plex Mono" pitchFamily="34" charset="-120"/>
              </a:rPr>
              <a:t>1 km</a:t>
            </a:r>
            <a:endParaRPr lang="en-US" sz="1200" dirty="0"/>
          </a:p>
        </p:txBody>
      </p:sp>
      <p:sp>
        <p:nvSpPr>
          <p:cNvPr id="14" name="power 2"/>
          <p:cNvSpPr txBox="1"/>
          <p:nvPr/>
        </p:nvSpPr>
        <p:spPr>
          <a:xfrm>
            <a:off x="2770632" y="5029200"/>
            <a:ext cx="1828800" cy="502920"/>
          </a:xfrm>
          <a:prstGeom prst="rect">
            <a:avLst/>
          </a:prstGeom>
          <a:noFill/>
          <a:ln/>
        </p:spPr>
        <p:txBody>
          <a:bodyPr wrap="square" lIns="0" tIns="0" rIns="0" bIns="0" rtlCol="0" anchor="ctr"/>
          <a:lstStyle/>
          <a:p>
            <a:pPr indent="0" marL="0">
              <a:buNone/>
            </a:pPr>
            <a:r>
              <a:rPr lang="en-US" sz="2600" b="1" dirty="0">
                <a:solidFill>
                  <a:schemeClr val="tx1"/>
                </a:solidFill>
                <a:latin typeface="Chakra Petch" pitchFamily="34" charset="0"/>
                <a:ea typeface="Chakra Petch" pitchFamily="34" charset="-122"/>
                <a:cs typeface="Chakra Petch" pitchFamily="34" charset="-120"/>
              </a:rPr>
              <a:t>~3 MW</a:t>
            </a:r>
            <a:endParaRPr lang="en-US" sz="2600" dirty="0"/>
          </a:p>
        </p:txBody>
      </p:sp>
      <p:sp>
        <p:nvSpPr>
          <p:cNvPr id="15" name="range 3"/>
          <p:cNvSpPr txBox="1"/>
          <p:nvPr/>
        </p:nvSpPr>
        <p:spPr>
          <a:xfrm>
            <a:off x="4782312" y="4709160"/>
            <a:ext cx="1828800" cy="365760"/>
          </a:xfrm>
          <a:prstGeom prst="rect">
            <a:avLst/>
          </a:prstGeom>
          <a:noFill/>
          <a:ln/>
        </p:spPr>
        <p:txBody>
          <a:bodyPr wrap="square" lIns="0" tIns="0" rIns="0" bIns="0" rtlCol="0" anchor="ctr"/>
          <a:lstStyle/>
          <a:p>
            <a:pPr indent="0" marL="0">
              <a:buNone/>
            </a:pPr>
            <a:r>
              <a:rPr lang="en-US" sz="1200" dirty="0">
                <a:solidFill>
                  <a:schemeClr val="tx2"/>
                </a:solidFill>
                <a:latin typeface="IBM Plex Mono" pitchFamily="34" charset="0"/>
                <a:ea typeface="IBM Plex Mono" pitchFamily="34" charset="-122"/>
                <a:cs typeface="IBM Plex Mono" pitchFamily="34" charset="-120"/>
              </a:rPr>
              <a:t>10 km</a:t>
            </a:r>
            <a:endParaRPr lang="en-US" sz="1200" dirty="0"/>
          </a:p>
        </p:txBody>
      </p:sp>
      <p:sp>
        <p:nvSpPr>
          <p:cNvPr id="16" name="power 3"/>
          <p:cNvSpPr txBox="1"/>
          <p:nvPr/>
        </p:nvSpPr>
        <p:spPr>
          <a:xfrm>
            <a:off x="4782312" y="5029200"/>
            <a:ext cx="1828800" cy="502920"/>
          </a:xfrm>
          <a:prstGeom prst="rect">
            <a:avLst/>
          </a:prstGeom>
          <a:noFill/>
          <a:ln/>
        </p:spPr>
        <p:txBody>
          <a:bodyPr wrap="square" lIns="0" tIns="0" rIns="0" bIns="0" rtlCol="0" anchor="ctr"/>
          <a:lstStyle/>
          <a:p>
            <a:pPr indent="0" marL="0">
              <a:buNone/>
            </a:pPr>
            <a:r>
              <a:rPr lang="en-US" sz="2600" b="1" dirty="0">
                <a:solidFill>
                  <a:schemeClr val="tx1"/>
                </a:solidFill>
                <a:latin typeface="Chakra Petch" pitchFamily="34" charset="0"/>
                <a:ea typeface="Chakra Petch" pitchFamily="34" charset="-122"/>
                <a:cs typeface="Chakra Petch" pitchFamily="34" charset="-120"/>
              </a:rPr>
              <a:t>~3 TW</a:t>
            </a:r>
            <a:endParaRPr lang="en-US" sz="2600" dirty="0"/>
          </a:p>
        </p:txBody>
      </p:sp>
      <p:sp>
        <p:nvSpPr>
          <p:cNvPr id="17" name="physics note"/>
          <p:cNvSpPr txBox="1"/>
          <p:nvPr/>
        </p:nvSpPr>
        <p:spPr>
          <a:xfrm>
            <a:off x="6793992" y="4681728"/>
            <a:ext cx="4636008" cy="1188720"/>
          </a:xfrm>
          <a:prstGeom prst="rect">
            <a:avLst/>
          </a:prstGeom>
          <a:noFill/>
          <a:ln/>
        </p:spPr>
        <p:txBody>
          <a:bodyPr wrap="square" lIns="0" tIns="0" rIns="0" bIns="0" rtlCol="0" anchor="t"/>
          <a:lstStyle/>
          <a:p>
            <a:pPr indent="0" marL="0">
              <a:buNone/>
            </a:pPr>
            <a:r>
              <a:rPr lang="en-US" sz="1400" dirty="0">
                <a:solidFill>
                  <a:schemeClr val="tx1"/>
                </a:solidFill>
              </a:rPr>
              <a:t>A magnetic jammer's field falls with distance cubed, so power grows with distance to the sixth: each 10× in range costs 1,000,000× in power. And MagNav emits nothing, so there is nothing to locate.</a:t>
            </a:r>
            <a:endParaRPr lang="en-US" sz="1400" dirty="0"/>
          </a:p>
        </p:txBody>
      </p:sp>
      <p:sp>
        <p:nvSpPr>
          <p:cNvPr id="18" name="assumptions"/>
          <p:cNvSpPr txBox="1"/>
          <p:nvPr/>
        </p:nvSpPr>
        <p:spPr>
          <a:xfrm>
            <a:off x="758952" y="5669280"/>
            <a:ext cx="5486400" cy="274320"/>
          </a:xfrm>
          <a:prstGeom prst="rect">
            <a:avLst/>
          </a:prstGeom>
          <a:noFill/>
          <a:ln/>
        </p:spPr>
        <p:txBody>
          <a:bodyPr wrap="square" lIns="0" tIns="0" rIns="0" bIns="0" rtlCol="0" anchor="ctr"/>
          <a:lstStyle/>
          <a:p>
            <a:pPr indent="0" marL="0">
              <a:buNone/>
            </a:pPr>
            <a:r>
              <a:rPr lang="en-US" sz="1000" dirty="0">
                <a:solidFill>
                  <a:schemeClr val="tx2"/>
                </a:solidFill>
              </a:rPr>
              <a:t>First-principles estimates: on-axis dipole, 20 m, 5 t copper loop, DC.</a:t>
            </a:r>
            <a:endParaRPr lang="en-US" sz="1000" dirty="0"/>
          </a:p>
        </p:txBody>
      </p:sp>
      <p:sp>
        <p:nvSpPr>
          <p:cNvPr id="25" name="Slide Number Placeholder 0"/>
          <p:cNvSpPr>
            <a:spLocks noGrp="1"/>
          </p:cNvSpPr>
          <p:nvPr>
            <p:ph type="sldNum" sz="quarter" idx="4294967295"/>
          </p:nvPr>
        </p:nvSpPr>
        <p:spPr>
          <a:xfrm>
            <a:off x="11064240"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latin typeface="IBM Plex Mono"/>
                <a:ea typeface="IBM Plex Mono"/>
                <a:cs typeface="IBM Plex Mon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4" type="body" hasCustomPrompt="1"/>
          </p:nvPr>
        </p:nvSpPr>
        <p:spPr>
          <a:xfrm>
            <a:off x="6858000" y="402336"/>
            <a:ext cx="4572000" cy="310896"/>
          </a:xfrm>
          <a:prstGeom prst="rect">
            <a:avLst/>
          </a:prstGeom>
          <a:noFill/>
          <a:ln/>
        </p:spPr>
        <p:txBody>
          <a:bodyPr wrap="square" lIns="0" tIns="0" rIns="0" bIns="0" rtlCol="0" anchor="ctr"/>
          <a:lstStyle/>
          <a:p>
            <a:pPr algn="r" indent="0" marL="0">
              <a:buNone/>
            </a:pPr>
            <a:r>
              <a:rPr lang="en-US" sz="1000" spc="300" kern="0" dirty="0">
                <a:solidFill>
                  <a:schemeClr val="tx2"/>
                </a:solidFill>
                <a:latin typeface="IBM Plex Mono" pitchFamily="34" charset="0"/>
                <a:ea typeface="IBM Plex Mono" pitchFamily="34" charset="-122"/>
                <a:cs typeface="IBM Plex Mono" pitchFamily="34" charset="-120"/>
              </a:rPr>
              <a:t>WHY NOW</a:t>
            </a:r>
            <a:endParaRPr lang="en-US" sz="1000" dirty="0"/>
          </a:p>
        </p:txBody>
      </p:sp>
      <p:sp>
        <p:nvSpPr>
          <p:cNvPr id="3" name="Text 2"/>
          <p:cNvSpPr/>
          <p:nvPr>
            <p:ph idx="105" type="title" hasCustomPrompt="1"/>
          </p:nvPr>
        </p:nvSpPr>
        <p:spPr>
          <a:xfrm>
            <a:off x="758952" y="1078992"/>
            <a:ext cx="10671048" cy="749808"/>
          </a:xfrm>
          <a:prstGeom prst="rect">
            <a:avLst/>
          </a:prstGeom>
          <a:noFill/>
          <a:ln/>
        </p:spPr>
        <p:txBody>
          <a:bodyPr wrap="square" lIns="0" tIns="0" rIns="0" bIns="0" rtlCol="0" anchor="t"/>
          <a:lstStyle/>
          <a:p>
            <a:pPr algn="l" indent="0" marL="0">
              <a:buNone/>
            </a:pPr>
            <a:r>
              <a:rPr lang="en-US" sz="3200" b="1" dirty="0">
                <a:solidFill>
                  <a:schemeClr val="tx1"/>
                </a:solidFill>
                <a:latin typeface="Chakra Petch" pitchFamily="34" charset="0"/>
                <a:ea typeface="Chakra Petch" pitchFamily="34" charset="-122"/>
                <a:cs typeface="Chakra Petch" pitchFamily="34" charset="-120"/>
              </a:rPr>
              <a:t>The map already exists: Tellus, completed 2026</a:t>
            </a:r>
            <a:endParaRPr lang="en-US" sz="3200" dirty="0"/>
          </a:p>
        </p:txBody>
      </p:sp>
      <p:sp>
        <p:nvSpPr>
          <p:cNvPr id="4" name="tellus value 1"/>
          <p:cNvSpPr txBox="1"/>
          <p:nvPr/>
        </p:nvSpPr>
        <p:spPr>
          <a:xfrm>
            <a:off x="758952" y="2011680"/>
            <a:ext cx="2651760" cy="502920"/>
          </a:xfrm>
          <a:prstGeom prst="rect">
            <a:avLst/>
          </a:prstGeom>
          <a:noFill/>
          <a:ln/>
        </p:spPr>
        <p:txBody>
          <a:bodyPr wrap="square" lIns="0" tIns="0" rIns="0" bIns="0" rtlCol="0" anchor="ctr"/>
          <a:lstStyle/>
          <a:p>
            <a:pPr indent="0" marL="0">
              <a:buNone/>
            </a:pPr>
            <a:r>
              <a:rPr lang="en-US" sz="2600" b="1" dirty="0">
                <a:solidFill>
                  <a:schemeClr val="accent2"/>
                </a:solidFill>
                <a:latin typeface="Chakra Petch" pitchFamily="34" charset="0"/>
                <a:ea typeface="Chakra Petch" pitchFamily="34" charset="-122"/>
                <a:cs typeface="Chakra Petch" pitchFamily="34" charset="-120"/>
              </a:rPr>
              <a:t>16 years</a:t>
            </a:r>
            <a:endParaRPr lang="en-US" sz="2600" dirty="0"/>
          </a:p>
        </p:txBody>
      </p:sp>
      <p:sp>
        <p:nvSpPr>
          <p:cNvPr id="5" name="tellus label 1"/>
          <p:cNvSpPr txBox="1"/>
          <p:nvPr/>
        </p:nvSpPr>
        <p:spPr>
          <a:xfrm>
            <a:off x="3502152" y="2029968"/>
            <a:ext cx="2880360" cy="868680"/>
          </a:xfrm>
          <a:prstGeom prst="rect">
            <a:avLst/>
          </a:prstGeom>
          <a:noFill/>
          <a:ln/>
        </p:spPr>
        <p:txBody>
          <a:bodyPr wrap="square" lIns="0" tIns="0" rIns="0" bIns="0" rtlCol="0" anchor="t"/>
          <a:lstStyle/>
          <a:p>
            <a:pPr indent="0" marL="0">
              <a:buNone/>
            </a:pPr>
            <a:r>
              <a:rPr lang="en-US" sz="1500" dirty="0">
                <a:solidFill>
                  <a:schemeClr val="tx1"/>
                </a:solidFill>
              </a:rPr>
              <a:t>of airborne survey; final flight June 2026</a:t>
            </a:r>
            <a:endParaRPr lang="en-US" sz="1500" dirty="0"/>
          </a:p>
        </p:txBody>
      </p:sp>
      <p:sp>
        <p:nvSpPr>
          <p:cNvPr id="6" name="tellus value 2"/>
          <p:cNvSpPr txBox="1"/>
          <p:nvPr/>
        </p:nvSpPr>
        <p:spPr>
          <a:xfrm>
            <a:off x="758952" y="3017520"/>
            <a:ext cx="2651760" cy="502920"/>
          </a:xfrm>
          <a:prstGeom prst="rect">
            <a:avLst/>
          </a:prstGeom>
          <a:noFill/>
          <a:ln/>
        </p:spPr>
        <p:txBody>
          <a:bodyPr wrap="square" lIns="0" tIns="0" rIns="0" bIns="0" rtlCol="0" anchor="ctr"/>
          <a:lstStyle/>
          <a:p>
            <a:pPr indent="0" marL="0">
              <a:buNone/>
            </a:pPr>
            <a:r>
              <a:rPr lang="en-US" sz="2600" b="1" dirty="0">
                <a:solidFill>
                  <a:schemeClr val="accent2"/>
                </a:solidFill>
                <a:latin typeface="Chakra Petch" pitchFamily="34" charset="0"/>
                <a:ea typeface="Chakra Petch" pitchFamily="34" charset="-122"/>
                <a:cs typeface="Chakra Petch" pitchFamily="34" charset="-120"/>
              </a:rPr>
              <a:t>440,000 km</a:t>
            </a:r>
            <a:endParaRPr lang="en-US" sz="2600" dirty="0"/>
          </a:p>
        </p:txBody>
      </p:sp>
      <p:sp>
        <p:nvSpPr>
          <p:cNvPr id="7" name="tellus label 2"/>
          <p:cNvSpPr txBox="1"/>
          <p:nvPr/>
        </p:nvSpPr>
        <p:spPr>
          <a:xfrm>
            <a:off x="3502152" y="3035808"/>
            <a:ext cx="2880360" cy="868680"/>
          </a:xfrm>
          <a:prstGeom prst="rect">
            <a:avLst/>
          </a:prstGeom>
          <a:noFill/>
          <a:ln/>
        </p:spPr>
        <p:txBody>
          <a:bodyPr wrap="square" lIns="0" tIns="0" rIns="0" bIns="0" rtlCol="0" anchor="t"/>
          <a:lstStyle/>
          <a:p>
            <a:pPr indent="0" marL="0">
              <a:buNone/>
            </a:pPr>
            <a:r>
              <a:rPr lang="en-US" sz="1500" dirty="0">
                <a:solidFill>
                  <a:schemeClr val="tx1"/>
                </a:solidFill>
              </a:rPr>
              <a:t>of flight lines over the whole island</a:t>
            </a:r>
            <a:endParaRPr lang="en-US" sz="1500" dirty="0"/>
          </a:p>
        </p:txBody>
      </p:sp>
      <p:sp>
        <p:nvSpPr>
          <p:cNvPr id="8" name="tellus value 3"/>
          <p:cNvSpPr txBox="1"/>
          <p:nvPr/>
        </p:nvSpPr>
        <p:spPr>
          <a:xfrm>
            <a:off x="758952" y="4023360"/>
            <a:ext cx="2651760" cy="502920"/>
          </a:xfrm>
          <a:prstGeom prst="rect">
            <a:avLst/>
          </a:prstGeom>
          <a:noFill/>
          <a:ln/>
        </p:spPr>
        <p:txBody>
          <a:bodyPr wrap="square" lIns="0" tIns="0" rIns="0" bIns="0" rtlCol="0" anchor="ctr"/>
          <a:lstStyle/>
          <a:p>
            <a:pPr indent="0" marL="0">
              <a:buNone/>
            </a:pPr>
            <a:r>
              <a:rPr lang="en-US" sz="2600" b="1" dirty="0">
                <a:solidFill>
                  <a:schemeClr val="accent2"/>
                </a:solidFill>
                <a:latin typeface="Chakra Petch" pitchFamily="34" charset="0"/>
                <a:ea typeface="Chakra Petch" pitchFamily="34" charset="-122"/>
                <a:cs typeface="Chakra Petch" pitchFamily="34" charset="-120"/>
              </a:rPr>
              <a:t>60 m · 200 m</a:t>
            </a:r>
            <a:endParaRPr lang="en-US" sz="2600" dirty="0"/>
          </a:p>
        </p:txBody>
      </p:sp>
      <p:sp>
        <p:nvSpPr>
          <p:cNvPr id="9" name="tellus label 3"/>
          <p:cNvSpPr txBox="1"/>
          <p:nvPr/>
        </p:nvSpPr>
        <p:spPr>
          <a:xfrm>
            <a:off x="3502152" y="4041648"/>
            <a:ext cx="2880360" cy="868680"/>
          </a:xfrm>
          <a:prstGeom prst="rect">
            <a:avLst/>
          </a:prstGeom>
          <a:noFill/>
          <a:ln/>
        </p:spPr>
        <p:txBody>
          <a:bodyPr wrap="square" lIns="0" tIns="0" rIns="0" bIns="0" rtlCol="0" anchor="t"/>
          <a:lstStyle/>
          <a:p>
            <a:pPr indent="0" marL="0">
              <a:buNone/>
            </a:pPr>
            <a:r>
              <a:rPr lang="en-US" sz="1500" dirty="0">
                <a:solidFill>
                  <a:schemeClr val="tx1"/>
                </a:solidFill>
              </a:rPr>
              <a:t>survey height and line spacing: far finer than most national maps</a:t>
            </a:r>
            <a:endParaRPr lang="en-US" sz="1500" dirty="0"/>
          </a:p>
        </p:txBody>
      </p:sp>
      <p:sp>
        <p:nvSpPr>
          <p:cNvPr id="10" name="tellus value 4"/>
          <p:cNvSpPr txBox="1"/>
          <p:nvPr/>
        </p:nvSpPr>
        <p:spPr>
          <a:xfrm>
            <a:off x="758952" y="5029200"/>
            <a:ext cx="2651760" cy="502920"/>
          </a:xfrm>
          <a:prstGeom prst="rect">
            <a:avLst/>
          </a:prstGeom>
          <a:noFill/>
          <a:ln/>
        </p:spPr>
        <p:txBody>
          <a:bodyPr wrap="square" lIns="0" tIns="0" rIns="0" bIns="0" rtlCol="0" anchor="ctr"/>
          <a:lstStyle/>
          <a:p>
            <a:pPr indent="0" marL="0">
              <a:buNone/>
            </a:pPr>
            <a:r>
              <a:rPr lang="en-US" sz="2600" b="1" dirty="0">
                <a:solidFill>
                  <a:schemeClr val="accent2"/>
                </a:solidFill>
                <a:latin typeface="Chakra Petch" pitchFamily="34" charset="0"/>
                <a:ea typeface="Chakra Petch" pitchFamily="34" charset="-122"/>
                <a:cs typeface="Chakra Petch" pitchFamily="34" charset="-120"/>
              </a:rPr>
              <a:t>Free</a:t>
            </a:r>
            <a:endParaRPr lang="en-US" sz="2600" dirty="0"/>
          </a:p>
        </p:txBody>
      </p:sp>
      <p:sp>
        <p:nvSpPr>
          <p:cNvPr id="11" name="tellus label 4"/>
          <p:cNvSpPr txBox="1"/>
          <p:nvPr/>
        </p:nvSpPr>
        <p:spPr>
          <a:xfrm>
            <a:off x="3502152" y="5047488"/>
            <a:ext cx="2880360" cy="868680"/>
          </a:xfrm>
          <a:prstGeom prst="rect">
            <a:avLst/>
          </a:prstGeom>
          <a:noFill/>
          <a:ln/>
        </p:spPr>
        <p:txBody>
          <a:bodyPr wrap="square" lIns="0" tIns="0" rIns="0" bIns="0" rtlCol="0" anchor="t"/>
          <a:lstStyle/>
          <a:p>
            <a:pPr indent="0" marL="0">
              <a:buNone/>
            </a:pPr>
            <a:r>
              <a:rPr lang="en-US" sz="1500" dirty="0">
                <a:solidFill>
                  <a:schemeClr val="tx1"/>
                </a:solidFill>
              </a:rPr>
              <a:t>open data, CC BY 4.0; merged national grid due 2027</a:t>
            </a:r>
            <a:endParaRPr lang="en-US" sz="1500" dirty="0"/>
          </a:p>
        </p:txBody>
      </p:sp>
      <p:sp>
        <p:nvSpPr>
          <p:cNvPr id="12" name="Tellus map slot"/>
          <p:cNvSpPr/>
          <p:nvPr/>
        </p:nvSpPr>
        <p:spPr>
          <a:xfrm>
            <a:off x="6537960" y="1965960"/>
            <a:ext cx="4892040" cy="4069080"/>
          </a:xfrm>
          <a:prstGeom prst="rect">
            <a:avLst/>
          </a:prstGeom>
          <a:solidFill>
            <a:schemeClr val="bg2"/>
          </a:solidFill>
          <a:ln w="19050">
            <a:solidFill>
              <a:schemeClr val="accent4"/>
            </a:solidFill>
            <a:prstDash val="dash"/>
          </a:ln>
        </p:spPr>
      </p:sp>
      <p:sp>
        <p:nvSpPr>
          <p:cNvPr id="13" name="Tellus map slot label"/>
          <p:cNvSpPr txBox="1"/>
          <p:nvPr/>
        </p:nvSpPr>
        <p:spPr>
          <a:xfrm>
            <a:off x="6537960" y="1965960"/>
            <a:ext cx="4892040" cy="4069080"/>
          </a:xfrm>
          <a:prstGeom prst="rect">
            <a:avLst/>
          </a:prstGeom>
          <a:noFill/>
          <a:ln/>
        </p:spPr>
        <p:txBody>
          <a:bodyPr wrap="square" rtlCol="0" anchor="ctr"/>
          <a:lstStyle/>
          <a:p>
            <a:pPr algn="ctr" indent="0" marL="0">
              <a:buNone/>
            </a:pPr>
            <a:r>
              <a:rPr lang="en-US" sz="1200" spc="200" kern="0" dirty="0">
                <a:solidFill>
                  <a:schemeClr val="tx2"/>
                </a:solidFill>
                <a:latin typeface="IBM Plex Mono" pitchFamily="34" charset="0"/>
                <a:ea typeface="IBM Plex Mono" pitchFamily="34" charset="-122"/>
                <a:cs typeface="IBM Plex Mono" pitchFamily="34" charset="-120"/>
              </a:rPr>
              <a:t>[ TELLUS A7 ANOMALY MAP ]</a:t>
            </a:r>
            <a:endParaRPr lang="en-US" sz="1200" dirty="0"/>
          </a:p>
        </p:txBody>
      </p:sp>
      <p:sp>
        <p:nvSpPr>
          <p:cNvPr id="25" name="Slide Number Placeholder 0"/>
          <p:cNvSpPr>
            <a:spLocks noGrp="1"/>
          </p:cNvSpPr>
          <p:nvPr>
            <p:ph type="sldNum" sz="quarter" idx="4294967295"/>
          </p:nvPr>
        </p:nvSpPr>
        <p:spPr>
          <a:xfrm>
            <a:off x="11064240"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latin typeface="IBM Plex Mono"/>
                <a:ea typeface="IBM Plex Mono"/>
                <a:cs typeface="IBM Plex Mon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4" type="body" hasCustomPrompt="1"/>
          </p:nvPr>
        </p:nvSpPr>
        <p:spPr>
          <a:xfrm>
            <a:off x="6858000" y="402336"/>
            <a:ext cx="4572000" cy="310896"/>
          </a:xfrm>
          <a:prstGeom prst="rect">
            <a:avLst/>
          </a:prstGeom>
          <a:noFill/>
          <a:ln/>
        </p:spPr>
        <p:txBody>
          <a:bodyPr wrap="square" lIns="0" tIns="0" rIns="0" bIns="0" rtlCol="0" anchor="ctr"/>
          <a:lstStyle/>
          <a:p>
            <a:pPr algn="r" indent="0" marL="0">
              <a:buNone/>
            </a:pPr>
            <a:r>
              <a:rPr lang="en-US" sz="1000" spc="300" kern="0" dirty="0">
                <a:solidFill>
                  <a:schemeClr val="tx2"/>
                </a:solidFill>
                <a:latin typeface="IBM Plex Mono" pitchFamily="34" charset="0"/>
                <a:ea typeface="IBM Plex Mono" pitchFamily="34" charset="-122"/>
                <a:cs typeface="IBM Plex Mono" pitchFamily="34" charset="-120"/>
              </a:rPr>
              <a:t>RESULTS</a:t>
            </a:r>
            <a:endParaRPr lang="en-US" sz="1000" dirty="0"/>
          </a:p>
        </p:txBody>
      </p:sp>
      <p:sp>
        <p:nvSpPr>
          <p:cNvPr id="3" name="Text 2"/>
          <p:cNvSpPr/>
          <p:nvPr>
            <p:ph idx="105" type="title" hasCustomPrompt="1"/>
          </p:nvPr>
        </p:nvSpPr>
        <p:spPr>
          <a:xfrm>
            <a:off x="758952" y="1078992"/>
            <a:ext cx="10671048" cy="749808"/>
          </a:xfrm>
          <a:prstGeom prst="rect">
            <a:avLst/>
          </a:prstGeom>
          <a:noFill/>
          <a:ln/>
        </p:spPr>
        <p:txBody>
          <a:bodyPr wrap="square" lIns="0" tIns="0" rIns="0" bIns="0" rtlCol="0" anchor="t"/>
          <a:lstStyle/>
          <a:p>
            <a:pPr algn="l" indent="0" marL="0">
              <a:buNone/>
            </a:pPr>
            <a:r>
              <a:rPr lang="en-US" sz="3200" b="1" dirty="0">
                <a:solidFill>
                  <a:schemeClr val="tx1"/>
                </a:solidFill>
                <a:latin typeface="Chakra Petch" pitchFamily="34" charset="0"/>
                <a:ea typeface="Chakra Petch" pitchFamily="34" charset="-122"/>
                <a:cs typeface="Chakra Petch" pitchFamily="34" charset="-120"/>
              </a:rPr>
              <a:t>GNSS lost: the INS drifts, we don't</a:t>
            </a:r>
            <a:endParaRPr lang="en-US" sz="3200" dirty="0"/>
          </a:p>
        </p:txBody>
      </p:sp>
      <p:sp>
        <p:nvSpPr>
          <p:cNvPr id="4" name="headline plot slot"/>
          <p:cNvSpPr/>
          <p:nvPr/>
        </p:nvSpPr>
        <p:spPr>
          <a:xfrm>
            <a:off x="758952" y="1965960"/>
            <a:ext cx="7086600" cy="4114800"/>
          </a:xfrm>
          <a:prstGeom prst="rect">
            <a:avLst/>
          </a:prstGeom>
          <a:solidFill>
            <a:schemeClr val="bg2"/>
          </a:solidFill>
          <a:ln w="19050">
            <a:solidFill>
              <a:schemeClr val="accent4"/>
            </a:solidFill>
            <a:prstDash val="dash"/>
          </a:ln>
        </p:spPr>
      </p:sp>
      <p:sp>
        <p:nvSpPr>
          <p:cNvPr id="5" name="headline plot slot label"/>
          <p:cNvSpPr txBox="1"/>
          <p:nvPr/>
        </p:nvSpPr>
        <p:spPr>
          <a:xfrm>
            <a:off x="758952" y="1965960"/>
            <a:ext cx="7086600" cy="4114800"/>
          </a:xfrm>
          <a:prstGeom prst="rect">
            <a:avLst/>
          </a:prstGeom>
          <a:noFill/>
          <a:ln/>
        </p:spPr>
        <p:txBody>
          <a:bodyPr wrap="square" rtlCol="0" anchor="ctr"/>
          <a:lstStyle/>
          <a:p>
            <a:pPr algn="ctr" indent="0" marL="0">
              <a:buNone/>
            </a:pPr>
            <a:r>
              <a:rPr lang="en-US" sz="1200" spc="200" kern="0" dirty="0">
                <a:solidFill>
                  <a:schemeClr val="tx2"/>
                </a:solidFill>
                <a:latin typeface="IBM Plex Mono" pitchFamily="34" charset="0"/>
                <a:ea typeface="IBM Plex Mono" pitchFamily="34" charset="-122"/>
                <a:cs typeface="IBM Plex Mono" pitchFamily="34" charset="-120"/>
              </a:rPr>
              <a:t>[ HEADLINE PLOT: ERROR VS TIME, INS ONLY VS INS + MAGNAV, OVER A7 ]</a:t>
            </a:r>
            <a:endParaRPr lang="en-US" sz="1200" dirty="0"/>
          </a:p>
        </p:txBody>
      </p:sp>
      <p:sp>
        <p:nvSpPr>
          <p:cNvPr id="6" name="result card 1"/>
          <p:cNvSpPr/>
          <p:nvPr/>
        </p:nvSpPr>
        <p:spPr>
          <a:xfrm>
            <a:off x="8092440" y="1965960"/>
            <a:ext cx="3337560" cy="1243584"/>
          </a:xfrm>
          <a:prstGeom prst="roundRect">
            <a:avLst>
              <a:gd name="adj" fmla="val 4412"/>
            </a:avLst>
          </a:prstGeom>
          <a:solidFill>
            <a:schemeClr val="bg2"/>
          </a:solidFill>
          <a:ln w="12700">
            <a:solidFill>
              <a:schemeClr val="accent5"/>
            </a:solidFill>
            <a:prstDash val="solid"/>
          </a:ln>
        </p:spPr>
      </p:sp>
      <p:sp>
        <p:nvSpPr>
          <p:cNvPr id="7" name="result value 1"/>
          <p:cNvSpPr txBox="1"/>
          <p:nvPr/>
        </p:nvSpPr>
        <p:spPr>
          <a:xfrm>
            <a:off x="8321040" y="2075688"/>
            <a:ext cx="2926080" cy="566928"/>
          </a:xfrm>
          <a:prstGeom prst="rect">
            <a:avLst/>
          </a:prstGeom>
          <a:noFill/>
          <a:ln/>
        </p:spPr>
        <p:txBody>
          <a:bodyPr wrap="square" lIns="0" tIns="0" rIns="0" bIns="0" rtlCol="0" anchor="ctr"/>
          <a:lstStyle/>
          <a:p>
            <a:pPr indent="0" marL="0">
              <a:buNone/>
            </a:pPr>
            <a:r>
              <a:rPr lang="en-US" sz="3000" b="1" dirty="0">
                <a:solidFill>
                  <a:schemeClr val="accent2"/>
                </a:solidFill>
                <a:latin typeface="Chakra Petch" pitchFamily="34" charset="0"/>
                <a:ea typeface="Chakra Petch" pitchFamily="34" charset="-122"/>
                <a:cs typeface="Chakra Petch" pitchFamily="34" charset="-120"/>
              </a:rPr>
              <a:t>[ ___ m ]</a:t>
            </a:r>
            <a:endParaRPr lang="en-US" sz="3000" dirty="0"/>
          </a:p>
        </p:txBody>
      </p:sp>
      <p:sp>
        <p:nvSpPr>
          <p:cNvPr id="8" name="result label 1"/>
          <p:cNvSpPr txBox="1"/>
          <p:nvPr/>
        </p:nvSpPr>
        <p:spPr>
          <a:xfrm>
            <a:off x="8321040" y="2660904"/>
            <a:ext cx="2926080" cy="457200"/>
          </a:xfrm>
          <a:prstGeom prst="rect">
            <a:avLst/>
          </a:prstGeom>
          <a:noFill/>
          <a:ln/>
        </p:spPr>
        <p:txBody>
          <a:bodyPr wrap="square" lIns="0" tIns="0" rIns="0" bIns="0" rtlCol="0" anchor="t"/>
          <a:lstStyle/>
          <a:p>
            <a:pPr indent="0" marL="0">
              <a:buNone/>
            </a:pPr>
            <a:r>
              <a:rPr lang="en-US" sz="1400" dirty="0">
                <a:solidFill>
                  <a:schemeClr val="tx1"/>
                </a:solidFill>
              </a:rPr>
              <a:t>final error with the magnetic filter</a:t>
            </a:r>
            <a:endParaRPr lang="en-US" sz="1400" dirty="0"/>
          </a:p>
        </p:txBody>
      </p:sp>
      <p:sp>
        <p:nvSpPr>
          <p:cNvPr id="9" name="result card 2"/>
          <p:cNvSpPr/>
          <p:nvPr/>
        </p:nvSpPr>
        <p:spPr>
          <a:xfrm>
            <a:off x="8092440" y="3355848"/>
            <a:ext cx="3337560" cy="1243584"/>
          </a:xfrm>
          <a:prstGeom prst="roundRect">
            <a:avLst>
              <a:gd name="adj" fmla="val 4412"/>
            </a:avLst>
          </a:prstGeom>
          <a:solidFill>
            <a:schemeClr val="bg2"/>
          </a:solidFill>
          <a:ln w="12700">
            <a:solidFill>
              <a:schemeClr val="accent5"/>
            </a:solidFill>
            <a:prstDash val="solid"/>
          </a:ln>
        </p:spPr>
      </p:sp>
      <p:sp>
        <p:nvSpPr>
          <p:cNvPr id="10" name="result value 2"/>
          <p:cNvSpPr txBox="1"/>
          <p:nvPr/>
        </p:nvSpPr>
        <p:spPr>
          <a:xfrm>
            <a:off x="8321040" y="3465576"/>
            <a:ext cx="2926080" cy="566928"/>
          </a:xfrm>
          <a:prstGeom prst="rect">
            <a:avLst/>
          </a:prstGeom>
          <a:noFill/>
          <a:ln/>
        </p:spPr>
        <p:txBody>
          <a:bodyPr wrap="square" lIns="0" tIns="0" rIns="0" bIns="0" rtlCol="0" anchor="ctr"/>
          <a:lstStyle/>
          <a:p>
            <a:pPr indent="0" marL="0">
              <a:buNone/>
            </a:pPr>
            <a:r>
              <a:rPr lang="en-US" sz="3000" b="1" dirty="0">
                <a:solidFill>
                  <a:schemeClr val="accent3"/>
                </a:solidFill>
                <a:latin typeface="Chakra Petch" pitchFamily="34" charset="0"/>
                <a:ea typeface="Chakra Petch" pitchFamily="34" charset="-122"/>
                <a:cs typeface="Chakra Petch" pitchFamily="34" charset="-120"/>
              </a:rPr>
              <a:t>[ ___ m ]</a:t>
            </a:r>
            <a:endParaRPr lang="en-US" sz="3000" dirty="0"/>
          </a:p>
        </p:txBody>
      </p:sp>
      <p:sp>
        <p:nvSpPr>
          <p:cNvPr id="11" name="result label 2"/>
          <p:cNvSpPr txBox="1"/>
          <p:nvPr/>
        </p:nvSpPr>
        <p:spPr>
          <a:xfrm>
            <a:off x="8321040" y="4050792"/>
            <a:ext cx="2926080" cy="457200"/>
          </a:xfrm>
          <a:prstGeom prst="rect">
            <a:avLst/>
          </a:prstGeom>
          <a:noFill/>
          <a:ln/>
        </p:spPr>
        <p:txBody>
          <a:bodyPr wrap="square" lIns="0" tIns="0" rIns="0" bIns="0" rtlCol="0" anchor="t"/>
          <a:lstStyle/>
          <a:p>
            <a:pPr indent="0" marL="0">
              <a:buNone/>
            </a:pPr>
            <a:r>
              <a:rPr lang="en-US" sz="1400" dirty="0">
                <a:solidFill>
                  <a:schemeClr val="tx1"/>
                </a:solidFill>
              </a:rPr>
              <a:t>final error, INS only, same IMU</a:t>
            </a:r>
            <a:endParaRPr lang="en-US" sz="1400" dirty="0"/>
          </a:p>
        </p:txBody>
      </p:sp>
      <p:sp>
        <p:nvSpPr>
          <p:cNvPr id="12" name="result card 3"/>
          <p:cNvSpPr/>
          <p:nvPr/>
        </p:nvSpPr>
        <p:spPr>
          <a:xfrm>
            <a:off x="8092440" y="4745736"/>
            <a:ext cx="3337560" cy="1243584"/>
          </a:xfrm>
          <a:prstGeom prst="roundRect">
            <a:avLst>
              <a:gd name="adj" fmla="val 4412"/>
            </a:avLst>
          </a:prstGeom>
          <a:solidFill>
            <a:schemeClr val="bg2"/>
          </a:solidFill>
          <a:ln w="12700">
            <a:solidFill>
              <a:schemeClr val="accent5"/>
            </a:solidFill>
            <a:prstDash val="solid"/>
          </a:ln>
        </p:spPr>
      </p:sp>
      <p:sp>
        <p:nvSpPr>
          <p:cNvPr id="13" name="result value 3"/>
          <p:cNvSpPr txBox="1"/>
          <p:nvPr/>
        </p:nvSpPr>
        <p:spPr>
          <a:xfrm>
            <a:off x="8321040" y="4855464"/>
            <a:ext cx="2926080" cy="566928"/>
          </a:xfrm>
          <a:prstGeom prst="rect">
            <a:avLst/>
          </a:prstGeom>
          <a:noFill/>
          <a:ln/>
        </p:spPr>
        <p:txBody>
          <a:bodyPr wrap="square" lIns="0" tIns="0" rIns="0" bIns="0" rtlCol="0" anchor="ctr"/>
          <a:lstStyle/>
          <a:p>
            <a:pPr indent="0" marL="0">
              <a:buNone/>
            </a:pPr>
            <a:r>
              <a:rPr lang="en-US" sz="3000" b="1" dirty="0">
                <a:solidFill>
                  <a:schemeClr val="accent2"/>
                </a:solidFill>
                <a:latin typeface="Chakra Petch" pitchFamily="34" charset="0"/>
                <a:ea typeface="Chakra Petch" pitchFamily="34" charset="-122"/>
                <a:cs typeface="Chakra Petch" pitchFamily="34" charset="-120"/>
              </a:rPr>
              <a:t>[ ___× ]</a:t>
            </a:r>
            <a:endParaRPr lang="en-US" sz="3000" dirty="0"/>
          </a:p>
        </p:txBody>
      </p:sp>
      <p:sp>
        <p:nvSpPr>
          <p:cNvPr id="14" name="result label 3"/>
          <p:cNvSpPr txBox="1"/>
          <p:nvPr/>
        </p:nvSpPr>
        <p:spPr>
          <a:xfrm>
            <a:off x="8321040" y="5440680"/>
            <a:ext cx="2926080" cy="457200"/>
          </a:xfrm>
          <a:prstGeom prst="rect">
            <a:avLst/>
          </a:prstGeom>
          <a:noFill/>
          <a:ln/>
        </p:spPr>
        <p:txBody>
          <a:bodyPr wrap="square" lIns="0" tIns="0" rIns="0" bIns="0" rtlCol="0" anchor="t"/>
          <a:lstStyle/>
          <a:p>
            <a:pPr indent="0" marL="0">
              <a:buNone/>
            </a:pPr>
            <a:r>
              <a:rPr lang="en-US" sz="1400" dirty="0">
                <a:solidFill>
                  <a:schemeClr val="tx1"/>
                </a:solidFill>
              </a:rPr>
              <a:t>better, consumer-grade IMU</a:t>
            </a:r>
            <a:endParaRPr lang="en-US" sz="1400" dirty="0"/>
          </a:p>
        </p:txBody>
      </p:sp>
      <p:sp>
        <p:nvSpPr>
          <p:cNvPr id="25" name="Slide Number Placeholder 0"/>
          <p:cNvSpPr>
            <a:spLocks noGrp="1"/>
          </p:cNvSpPr>
          <p:nvPr>
            <p:ph type="sldNum" sz="quarter" idx="4294967295"/>
          </p:nvPr>
        </p:nvSpPr>
        <p:spPr>
          <a:xfrm>
            <a:off x="11064240"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latin typeface="IBM Plex Mono"/>
                <a:ea typeface="IBM Plex Mono"/>
                <a:cs typeface="IBM Plex Mon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4" type="body" hasCustomPrompt="1"/>
          </p:nvPr>
        </p:nvSpPr>
        <p:spPr>
          <a:xfrm>
            <a:off x="6858000" y="402336"/>
            <a:ext cx="4572000" cy="310896"/>
          </a:xfrm>
          <a:prstGeom prst="rect">
            <a:avLst/>
          </a:prstGeom>
          <a:noFill/>
          <a:ln/>
        </p:spPr>
        <p:txBody>
          <a:bodyPr wrap="square" lIns="0" tIns="0" rIns="0" bIns="0" rtlCol="0" anchor="ctr"/>
          <a:lstStyle/>
          <a:p>
            <a:pPr algn="r" indent="0" marL="0">
              <a:buNone/>
            </a:pPr>
            <a:r>
              <a:rPr lang="en-US" sz="1000" spc="300" kern="0" dirty="0">
                <a:solidFill>
                  <a:schemeClr val="tx2"/>
                </a:solidFill>
                <a:latin typeface="IBM Plex Mono" pitchFamily="34" charset="0"/>
                <a:ea typeface="IBM Plex Mono" pitchFamily="34" charset="-122"/>
                <a:cs typeface="IBM Plex Mono" pitchFamily="34" charset="-120"/>
              </a:rPr>
              <a:t>EVIDENCE</a:t>
            </a:r>
            <a:endParaRPr lang="en-US" sz="1000" dirty="0"/>
          </a:p>
        </p:txBody>
      </p:sp>
      <p:sp>
        <p:nvSpPr>
          <p:cNvPr id="3" name="Text 2"/>
          <p:cNvSpPr/>
          <p:nvPr>
            <p:ph idx="105" type="title" hasCustomPrompt="1"/>
          </p:nvPr>
        </p:nvSpPr>
        <p:spPr>
          <a:xfrm>
            <a:off x="758952" y="1078992"/>
            <a:ext cx="10671048" cy="749808"/>
          </a:xfrm>
          <a:prstGeom prst="rect">
            <a:avLst/>
          </a:prstGeom>
          <a:noFill/>
          <a:ln/>
        </p:spPr>
        <p:txBody>
          <a:bodyPr wrap="square" lIns="0" tIns="0" rIns="0" bIns="0" rtlCol="0" anchor="t"/>
          <a:lstStyle/>
          <a:p>
            <a:pPr algn="l" indent="0" marL="0">
              <a:buNone/>
            </a:pPr>
            <a:r>
              <a:rPr lang="en-US" sz="3200" b="1" dirty="0">
                <a:solidFill>
                  <a:schemeClr val="tx1"/>
                </a:solidFill>
                <a:latin typeface="Chakra Petch" pitchFamily="34" charset="0"/>
                <a:ea typeface="Chakra Petch" pitchFamily="34" charset="-122"/>
                <a:cs typeface="Chakra Petch" pitchFamily="34" charset="-120"/>
              </a:rPr>
              <a:t>Real data, not just simulation</a:t>
            </a:r>
            <a:endParaRPr lang="en-US" sz="3200" dirty="0"/>
          </a:p>
        </p:txBody>
      </p:sp>
      <p:sp>
        <p:nvSpPr>
          <p:cNvPr id="4" name="evidence card 1"/>
          <p:cNvSpPr/>
          <p:nvPr/>
        </p:nvSpPr>
        <p:spPr>
          <a:xfrm>
            <a:off x="758952" y="2011680"/>
            <a:ext cx="3346704" cy="3931920"/>
          </a:xfrm>
          <a:prstGeom prst="roundRect">
            <a:avLst>
              <a:gd name="adj" fmla="val 1639"/>
            </a:avLst>
          </a:prstGeom>
          <a:solidFill>
            <a:schemeClr val="bg2"/>
          </a:solidFill>
          <a:ln w="12700">
            <a:solidFill>
              <a:schemeClr val="accent5"/>
            </a:solidFill>
            <a:prstDash val="solid"/>
          </a:ln>
        </p:spPr>
      </p:sp>
      <p:sp>
        <p:nvSpPr>
          <p:cNvPr id="5" name="evidence head 1"/>
          <p:cNvSpPr txBox="1"/>
          <p:nvPr/>
        </p:nvSpPr>
        <p:spPr>
          <a:xfrm>
            <a:off x="1033272" y="2267712"/>
            <a:ext cx="2798064" cy="365760"/>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IBM Plex Mono" pitchFamily="34" charset="0"/>
                <a:ea typeface="IBM Plex Mono" pitchFamily="34" charset="-122"/>
                <a:cs typeface="IBM Plex Mono" pitchFamily="34" charset="-120"/>
              </a:rPr>
              <a:t>REAL QUANTUM SENSOR</a:t>
            </a:r>
            <a:endParaRPr lang="en-US" sz="1100" dirty="0"/>
          </a:p>
        </p:txBody>
      </p:sp>
      <p:sp>
        <p:nvSpPr>
          <p:cNvPr id="6" name="evidence text 1"/>
          <p:cNvSpPr txBox="1"/>
          <p:nvPr/>
        </p:nvSpPr>
        <p:spPr>
          <a:xfrm>
            <a:off x="1033272" y="2743200"/>
            <a:ext cx="2798064" cy="1463040"/>
          </a:xfrm>
          <a:prstGeom prst="rect">
            <a:avLst/>
          </a:prstGeom>
          <a:noFill/>
          <a:ln/>
        </p:spPr>
        <p:txBody>
          <a:bodyPr wrap="square" lIns="0" tIns="0" rIns="0" bIns="0" rtlCol="0" anchor="t"/>
          <a:lstStyle/>
          <a:p>
            <a:pPr indent="0" marL="0">
              <a:buNone/>
            </a:pPr>
            <a:r>
              <a:rPr lang="en-US" sz="1500" dirty="0">
                <a:solidFill>
                  <a:schemeClr val="tx1"/>
                </a:solidFill>
              </a:rPr>
              <a:t>QuSpin QTFM flight data: map from half the survey lines, navigate along the other half</a:t>
            </a:r>
            <a:endParaRPr lang="en-US" sz="1500" dirty="0"/>
          </a:p>
        </p:txBody>
      </p:sp>
      <p:sp>
        <p:nvSpPr>
          <p:cNvPr id="7" name="evidence result 1"/>
          <p:cNvSpPr txBox="1"/>
          <p:nvPr/>
        </p:nvSpPr>
        <p:spPr>
          <a:xfrm>
            <a:off x="1033272" y="4754880"/>
            <a:ext cx="2798064" cy="822960"/>
          </a:xfrm>
          <a:prstGeom prst="rect">
            <a:avLst/>
          </a:prstGeom>
          <a:noFill/>
          <a:ln/>
        </p:spPr>
        <p:txBody>
          <a:bodyPr wrap="square" lIns="0" tIns="0" rIns="0" bIns="0" rtlCol="0" anchor="ctr"/>
          <a:lstStyle/>
          <a:p>
            <a:pPr indent="0" marL="0">
              <a:buNone/>
            </a:pPr>
            <a:r>
              <a:rPr lang="en-US" sz="2800" b="1" dirty="0">
                <a:solidFill>
                  <a:schemeClr val="tx1"/>
                </a:solidFill>
                <a:latin typeface="Chakra Petch" pitchFamily="34" charset="0"/>
                <a:ea typeface="Chakra Petch" pitchFamily="34" charset="-122"/>
                <a:cs typeface="Chakra Petch" pitchFamily="34" charset="-120"/>
              </a:rPr>
              <a:t>[ RESULT ]</a:t>
            </a:r>
            <a:endParaRPr lang="en-US" sz="2800" dirty="0"/>
          </a:p>
        </p:txBody>
      </p:sp>
      <p:sp>
        <p:nvSpPr>
          <p:cNvPr id="8" name="evidence card 2"/>
          <p:cNvSpPr/>
          <p:nvPr/>
        </p:nvSpPr>
        <p:spPr>
          <a:xfrm>
            <a:off x="4416552" y="2011680"/>
            <a:ext cx="3346704" cy="3931920"/>
          </a:xfrm>
          <a:prstGeom prst="roundRect">
            <a:avLst>
              <a:gd name="adj" fmla="val 1639"/>
            </a:avLst>
          </a:prstGeom>
          <a:solidFill>
            <a:schemeClr val="bg2"/>
          </a:solidFill>
          <a:ln w="12700">
            <a:solidFill>
              <a:schemeClr val="accent5"/>
            </a:solidFill>
            <a:prstDash val="solid"/>
          </a:ln>
        </p:spPr>
      </p:sp>
      <p:sp>
        <p:nvSpPr>
          <p:cNvPr id="9" name="evidence head 2"/>
          <p:cNvSpPr txBox="1"/>
          <p:nvPr/>
        </p:nvSpPr>
        <p:spPr>
          <a:xfrm>
            <a:off x="4690872" y="2267712"/>
            <a:ext cx="2798064" cy="365760"/>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IBM Plex Mono" pitchFamily="34" charset="0"/>
                <a:ea typeface="IBM Plex Mono" pitchFamily="34" charset="-122"/>
                <a:cs typeface="IBM Plex Mono" pitchFamily="34" charset="-120"/>
              </a:rPr>
              <a:t>PUBLIC BENCHMARK</a:t>
            </a:r>
            <a:endParaRPr lang="en-US" sz="1100" dirty="0"/>
          </a:p>
        </p:txBody>
      </p:sp>
      <p:sp>
        <p:nvSpPr>
          <p:cNvPr id="10" name="evidence text 2"/>
          <p:cNvSpPr txBox="1"/>
          <p:nvPr/>
        </p:nvSpPr>
        <p:spPr>
          <a:xfrm>
            <a:off x="4690872" y="2743200"/>
            <a:ext cx="2798064" cy="1463040"/>
          </a:xfrm>
          <a:prstGeom prst="rect">
            <a:avLst/>
          </a:prstGeom>
          <a:noFill/>
          <a:ln/>
        </p:spPr>
        <p:txBody>
          <a:bodyPr wrap="square" lIns="0" tIns="0" rIns="0" bIns="0" rtlCol="0" anchor="t"/>
          <a:lstStyle/>
          <a:p>
            <a:pPr indent="0" marL="0">
              <a:buNone/>
            </a:pPr>
            <a:r>
              <a:rPr lang="en-US" sz="1500" dirty="0">
                <a:solidFill>
                  <a:schemeClr val="tx1"/>
                </a:solidFill>
              </a:rPr>
              <a:t>DAF–MIT MagNav challenge: a real flight with its own map, run through our filter</a:t>
            </a:r>
            <a:endParaRPr lang="en-US" sz="1500" dirty="0"/>
          </a:p>
        </p:txBody>
      </p:sp>
      <p:sp>
        <p:nvSpPr>
          <p:cNvPr id="11" name="evidence result 2"/>
          <p:cNvSpPr txBox="1"/>
          <p:nvPr/>
        </p:nvSpPr>
        <p:spPr>
          <a:xfrm>
            <a:off x="4690872" y="4754880"/>
            <a:ext cx="2798064" cy="822960"/>
          </a:xfrm>
          <a:prstGeom prst="rect">
            <a:avLst/>
          </a:prstGeom>
          <a:noFill/>
          <a:ln/>
        </p:spPr>
        <p:txBody>
          <a:bodyPr wrap="square" lIns="0" tIns="0" rIns="0" bIns="0" rtlCol="0" anchor="ctr"/>
          <a:lstStyle/>
          <a:p>
            <a:pPr indent="0" marL="0">
              <a:buNone/>
            </a:pPr>
            <a:r>
              <a:rPr lang="en-US" sz="2800" b="1" dirty="0">
                <a:solidFill>
                  <a:schemeClr val="tx1"/>
                </a:solidFill>
                <a:latin typeface="Chakra Petch" pitchFamily="34" charset="0"/>
                <a:ea typeface="Chakra Petch" pitchFamily="34" charset="-122"/>
                <a:cs typeface="Chakra Petch" pitchFamily="34" charset="-120"/>
              </a:rPr>
              <a:t>[ RESULT ]</a:t>
            </a:r>
            <a:endParaRPr lang="en-US" sz="2800" dirty="0"/>
          </a:p>
        </p:txBody>
      </p:sp>
      <p:sp>
        <p:nvSpPr>
          <p:cNvPr id="12" name="evidence card 3"/>
          <p:cNvSpPr/>
          <p:nvPr/>
        </p:nvSpPr>
        <p:spPr>
          <a:xfrm>
            <a:off x="8074152" y="2011680"/>
            <a:ext cx="3346704" cy="3931920"/>
          </a:xfrm>
          <a:prstGeom prst="roundRect">
            <a:avLst>
              <a:gd name="adj" fmla="val 1639"/>
            </a:avLst>
          </a:prstGeom>
          <a:solidFill>
            <a:schemeClr val="bg2"/>
          </a:solidFill>
          <a:ln w="12700">
            <a:solidFill>
              <a:schemeClr val="accent5"/>
            </a:solidFill>
            <a:prstDash val="solid"/>
          </a:ln>
        </p:spPr>
      </p:sp>
      <p:sp>
        <p:nvSpPr>
          <p:cNvPr id="13" name="evidence head 3"/>
          <p:cNvSpPr txBox="1"/>
          <p:nvPr/>
        </p:nvSpPr>
        <p:spPr>
          <a:xfrm>
            <a:off x="8348472" y="2267712"/>
            <a:ext cx="2798064" cy="365760"/>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IBM Plex Mono" pitchFamily="34" charset="0"/>
                <a:ea typeface="IBM Plex Mono" pitchFamily="34" charset="-122"/>
                <a:cs typeface="IBM Plex Mono" pitchFamily="34" charset="-120"/>
              </a:rPr>
              <a:t>OUR OWN DRONE</a:t>
            </a:r>
            <a:endParaRPr lang="en-US" sz="1100" dirty="0"/>
          </a:p>
        </p:txBody>
      </p:sp>
      <p:sp>
        <p:nvSpPr>
          <p:cNvPr id="14" name="evidence text 3"/>
          <p:cNvSpPr txBox="1"/>
          <p:nvPr/>
        </p:nvSpPr>
        <p:spPr>
          <a:xfrm>
            <a:off x="8348472" y="2743200"/>
            <a:ext cx="2798064" cy="1463040"/>
          </a:xfrm>
          <a:prstGeom prst="rect">
            <a:avLst/>
          </a:prstGeom>
          <a:noFill/>
          <a:ln/>
        </p:spPr>
        <p:txBody>
          <a:bodyPr wrap="square" lIns="0" tIns="0" rIns="0" bIns="0" rtlCol="0" anchor="t"/>
          <a:lstStyle/>
          <a:p>
            <a:pPr indent="0" marL="0">
              <a:buNone/>
            </a:pPr>
            <a:r>
              <a:rPr lang="en-US" sz="1500" dirty="0">
                <a:solidFill>
                  <a:schemeClr val="tx1"/>
                </a:solidFill>
              </a:rPr>
              <a:t>X500 + RM3100: lawnmower survey, map from odd strips, navigate the even strips</a:t>
            </a:r>
            <a:endParaRPr lang="en-US" sz="1500" dirty="0"/>
          </a:p>
        </p:txBody>
      </p:sp>
      <p:sp>
        <p:nvSpPr>
          <p:cNvPr id="15" name="evidence result 3"/>
          <p:cNvSpPr txBox="1"/>
          <p:nvPr/>
        </p:nvSpPr>
        <p:spPr>
          <a:xfrm>
            <a:off x="8348472" y="4754880"/>
            <a:ext cx="2798064" cy="822960"/>
          </a:xfrm>
          <a:prstGeom prst="rect">
            <a:avLst/>
          </a:prstGeom>
          <a:noFill/>
          <a:ln/>
        </p:spPr>
        <p:txBody>
          <a:bodyPr wrap="square" lIns="0" tIns="0" rIns="0" bIns="0" rtlCol="0" anchor="ctr"/>
          <a:lstStyle/>
          <a:p>
            <a:pPr indent="0" marL="0">
              <a:buNone/>
            </a:pPr>
            <a:r>
              <a:rPr lang="en-US" sz="2800" b="1" dirty="0">
                <a:solidFill>
                  <a:schemeClr val="tx1"/>
                </a:solidFill>
                <a:latin typeface="Chakra Petch" pitchFamily="34" charset="0"/>
                <a:ea typeface="Chakra Petch" pitchFamily="34" charset="-122"/>
                <a:cs typeface="Chakra Petch" pitchFamily="34" charset="-120"/>
              </a:rPr>
              <a:t>[ RESULT ]</a:t>
            </a:r>
            <a:endParaRPr lang="en-US" sz="2800" dirty="0"/>
          </a:p>
        </p:txBody>
      </p:sp>
      <p:sp>
        <p:nvSpPr>
          <p:cNvPr id="25" name="Slide Number Placeholder 0"/>
          <p:cNvSpPr>
            <a:spLocks noGrp="1"/>
          </p:cNvSpPr>
          <p:nvPr>
            <p:ph type="sldNum" sz="quarter" idx="4294967295"/>
          </p:nvPr>
        </p:nvSpPr>
        <p:spPr>
          <a:xfrm>
            <a:off x="11064240"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latin typeface="IBM Plex Mono"/>
                <a:ea typeface="IBM Plex Mono"/>
                <a:cs typeface="IBM Plex Mon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4" type="body" hasCustomPrompt="1"/>
          </p:nvPr>
        </p:nvSpPr>
        <p:spPr>
          <a:xfrm>
            <a:off x="6858000" y="402336"/>
            <a:ext cx="4572000" cy="310896"/>
          </a:xfrm>
          <a:prstGeom prst="rect">
            <a:avLst/>
          </a:prstGeom>
          <a:noFill/>
          <a:ln/>
        </p:spPr>
        <p:txBody>
          <a:bodyPr wrap="square" lIns="0" tIns="0" rIns="0" bIns="0" rtlCol="0" anchor="ctr"/>
          <a:lstStyle/>
          <a:p>
            <a:pPr algn="r" indent="0" marL="0">
              <a:buNone/>
            </a:pPr>
            <a:r>
              <a:rPr lang="en-US" sz="1000" spc="300" kern="0" dirty="0">
                <a:solidFill>
                  <a:schemeClr val="tx2"/>
                </a:solidFill>
                <a:latin typeface="IBM Plex Mono" pitchFamily="34" charset="0"/>
                <a:ea typeface="IBM Plex Mono" pitchFamily="34" charset="-122"/>
                <a:cs typeface="IBM Plex Mono" pitchFamily="34" charset="-120"/>
              </a:rPr>
              <a:t>BUILT THIS WEEKEND</a:t>
            </a:r>
            <a:endParaRPr lang="en-US" sz="1000" dirty="0"/>
          </a:p>
        </p:txBody>
      </p:sp>
      <p:sp>
        <p:nvSpPr>
          <p:cNvPr id="3" name="Text 2"/>
          <p:cNvSpPr/>
          <p:nvPr>
            <p:ph idx="105" type="title" hasCustomPrompt="1"/>
          </p:nvPr>
        </p:nvSpPr>
        <p:spPr>
          <a:xfrm>
            <a:off x="758952" y="1078992"/>
            <a:ext cx="10671048" cy="749808"/>
          </a:xfrm>
          <a:prstGeom prst="rect">
            <a:avLst/>
          </a:prstGeom>
          <a:noFill/>
          <a:ln/>
        </p:spPr>
        <p:txBody>
          <a:bodyPr wrap="square" lIns="0" tIns="0" rIns="0" bIns="0" rtlCol="0" anchor="t"/>
          <a:lstStyle/>
          <a:p>
            <a:pPr algn="l" indent="0" marL="0">
              <a:buNone/>
            </a:pPr>
            <a:r>
              <a:rPr lang="en-US" sz="3200" b="1" dirty="0">
                <a:solidFill>
                  <a:schemeClr val="tx1"/>
                </a:solidFill>
                <a:latin typeface="Chakra Petch" pitchFamily="34" charset="0"/>
                <a:ea typeface="Chakra Petch" pitchFamily="34" charset="-122"/>
                <a:cs typeface="Chakra Petch" pitchFamily="34" charset="-120"/>
              </a:rPr>
              <a:t>Two airframes, one sensor, interference measured</a:t>
            </a:r>
            <a:endParaRPr lang="en-US" sz="3200" dirty="0"/>
          </a:p>
        </p:txBody>
      </p:sp>
      <p:sp>
        <p:nvSpPr>
          <p:cNvPr id="4" name="photo slot 1"/>
          <p:cNvSpPr/>
          <p:nvPr/>
        </p:nvSpPr>
        <p:spPr>
          <a:xfrm>
            <a:off x="758952" y="1965960"/>
            <a:ext cx="2212848" cy="2286000"/>
          </a:xfrm>
          <a:prstGeom prst="rect">
            <a:avLst/>
          </a:prstGeom>
          <a:solidFill>
            <a:schemeClr val="bg2"/>
          </a:solidFill>
          <a:ln w="19050">
            <a:solidFill>
              <a:schemeClr val="accent4"/>
            </a:solidFill>
            <a:prstDash val="dash"/>
          </a:ln>
        </p:spPr>
      </p:sp>
      <p:sp>
        <p:nvSpPr>
          <p:cNvPr id="5" name="photo slot 1 label"/>
          <p:cNvSpPr txBox="1"/>
          <p:nvPr/>
        </p:nvSpPr>
        <p:spPr>
          <a:xfrm>
            <a:off x="758952" y="1965960"/>
            <a:ext cx="2212848" cy="2286000"/>
          </a:xfrm>
          <a:prstGeom prst="rect">
            <a:avLst/>
          </a:prstGeom>
          <a:noFill/>
          <a:ln/>
        </p:spPr>
        <p:txBody>
          <a:bodyPr wrap="square" rtlCol="0" anchor="ctr"/>
          <a:lstStyle/>
          <a:p>
            <a:pPr algn="ctr" indent="0" marL="0">
              <a:buNone/>
            </a:pPr>
            <a:r>
              <a:rPr lang="en-US" sz="1200" spc="200" kern="0" dirty="0">
                <a:solidFill>
                  <a:schemeClr val="tx2"/>
                </a:solidFill>
                <a:latin typeface="IBM Plex Mono" pitchFamily="34" charset="0"/>
                <a:ea typeface="IBM Plex Mono" pitchFamily="34" charset="-122"/>
                <a:cs typeface="IBM Plex Mono" pitchFamily="34" charset="-120"/>
              </a:rPr>
              <a:t>[ PHOTO: X500 + BOOM ]</a:t>
            </a:r>
            <a:endParaRPr lang="en-US" sz="1200" dirty="0"/>
          </a:p>
        </p:txBody>
      </p:sp>
      <p:sp>
        <p:nvSpPr>
          <p:cNvPr id="6" name="photo caption 1"/>
          <p:cNvSpPr txBox="1"/>
          <p:nvPr/>
        </p:nvSpPr>
        <p:spPr>
          <a:xfrm>
            <a:off x="758952" y="4343400"/>
            <a:ext cx="2212848" cy="685800"/>
          </a:xfrm>
          <a:prstGeom prst="rect">
            <a:avLst/>
          </a:prstGeom>
          <a:noFill/>
          <a:ln/>
        </p:spPr>
        <p:txBody>
          <a:bodyPr wrap="square" lIns="0" tIns="0" rIns="0" bIns="0" rtlCol="0" anchor="t"/>
          <a:lstStyle/>
          <a:p>
            <a:pPr indent="0" marL="0">
              <a:buNone/>
            </a:pPr>
            <a:r>
              <a:rPr lang="en-US" sz="1200" dirty="0">
                <a:solidFill>
                  <a:schemeClr val="tx2"/>
                </a:solidFill>
              </a:rPr>
              <a:t>Holybro X500 V2, Pixhawk 6C, ArduPilot, RM3100 on DroneCAN</a:t>
            </a:r>
            <a:endParaRPr lang="en-US" sz="1200" dirty="0"/>
          </a:p>
        </p:txBody>
      </p:sp>
      <p:sp>
        <p:nvSpPr>
          <p:cNvPr id="7" name="photo slot 2"/>
          <p:cNvSpPr/>
          <p:nvPr/>
        </p:nvSpPr>
        <p:spPr>
          <a:xfrm>
            <a:off x="3154680" y="1965960"/>
            <a:ext cx="2212848" cy="2286000"/>
          </a:xfrm>
          <a:prstGeom prst="rect">
            <a:avLst/>
          </a:prstGeom>
          <a:solidFill>
            <a:schemeClr val="bg2"/>
          </a:solidFill>
          <a:ln w="19050">
            <a:solidFill>
              <a:schemeClr val="accent4"/>
            </a:solidFill>
            <a:prstDash val="dash"/>
          </a:ln>
        </p:spPr>
      </p:sp>
      <p:sp>
        <p:nvSpPr>
          <p:cNvPr id="8" name="photo slot 2 label"/>
          <p:cNvSpPr txBox="1"/>
          <p:nvPr/>
        </p:nvSpPr>
        <p:spPr>
          <a:xfrm>
            <a:off x="3154680" y="1965960"/>
            <a:ext cx="2212848" cy="2286000"/>
          </a:xfrm>
          <a:prstGeom prst="rect">
            <a:avLst/>
          </a:prstGeom>
          <a:noFill/>
          <a:ln/>
        </p:spPr>
        <p:txBody>
          <a:bodyPr wrap="square" rtlCol="0" anchor="ctr"/>
          <a:lstStyle/>
          <a:p>
            <a:pPr algn="ctr" indent="0" marL="0">
              <a:buNone/>
            </a:pPr>
            <a:r>
              <a:rPr lang="en-US" sz="1200" spc="200" kern="0" dirty="0">
                <a:solidFill>
                  <a:schemeClr val="tx2"/>
                </a:solidFill>
                <a:latin typeface="IBM Plex Mono" pitchFamily="34" charset="0"/>
                <a:ea typeface="IBM Plex Mono" pitchFamily="34" charset="-122"/>
                <a:cs typeface="IBM Plex Mono" pitchFamily="34" charset="-120"/>
              </a:rPr>
              <a:t>[ PHOTO: FLIGHTORY MOOSE ]</a:t>
            </a:r>
            <a:endParaRPr lang="en-US" sz="1200" dirty="0"/>
          </a:p>
        </p:txBody>
      </p:sp>
      <p:sp>
        <p:nvSpPr>
          <p:cNvPr id="9" name="photo caption 2"/>
          <p:cNvSpPr txBox="1"/>
          <p:nvPr/>
        </p:nvSpPr>
        <p:spPr>
          <a:xfrm>
            <a:off x="3154680" y="4343400"/>
            <a:ext cx="2212848" cy="685800"/>
          </a:xfrm>
          <a:prstGeom prst="rect">
            <a:avLst/>
          </a:prstGeom>
          <a:noFill/>
          <a:ln/>
        </p:spPr>
        <p:txBody>
          <a:bodyPr wrap="square" lIns="0" tIns="0" rIns="0" bIns="0" rtlCol="0" anchor="t"/>
          <a:lstStyle/>
          <a:p>
            <a:pPr indent="0" marL="0">
              <a:buNone/>
            </a:pPr>
            <a:r>
              <a:rPr lang="en-US" sz="1200" dirty="0">
                <a:solidFill>
                  <a:schemeClr val="tx2"/>
                </a:solidFill>
              </a:rPr>
              <a:t>Printed fixed wing for long offshore legs</a:t>
            </a:r>
            <a:endParaRPr lang="en-US" sz="1200" dirty="0"/>
          </a:p>
        </p:txBody>
      </p:sp>
      <p:sp>
        <p:nvSpPr>
          <p:cNvPr id="10" name="photo slot 3"/>
          <p:cNvSpPr/>
          <p:nvPr/>
        </p:nvSpPr>
        <p:spPr>
          <a:xfrm>
            <a:off x="5550408" y="1965960"/>
            <a:ext cx="2212848" cy="2286000"/>
          </a:xfrm>
          <a:prstGeom prst="rect">
            <a:avLst/>
          </a:prstGeom>
          <a:solidFill>
            <a:schemeClr val="bg2"/>
          </a:solidFill>
          <a:ln w="19050">
            <a:solidFill>
              <a:schemeClr val="accent4"/>
            </a:solidFill>
            <a:prstDash val="dash"/>
          </a:ln>
        </p:spPr>
      </p:sp>
      <p:sp>
        <p:nvSpPr>
          <p:cNvPr id="11" name="photo slot 3 label"/>
          <p:cNvSpPr txBox="1"/>
          <p:nvPr/>
        </p:nvSpPr>
        <p:spPr>
          <a:xfrm>
            <a:off x="5550408" y="1965960"/>
            <a:ext cx="2212848" cy="2286000"/>
          </a:xfrm>
          <a:prstGeom prst="rect">
            <a:avLst/>
          </a:prstGeom>
          <a:noFill/>
          <a:ln/>
        </p:spPr>
        <p:txBody>
          <a:bodyPr wrap="square" rtlCol="0" anchor="ctr"/>
          <a:lstStyle/>
          <a:p>
            <a:pPr algn="ctr" indent="0" marL="0">
              <a:buNone/>
            </a:pPr>
            <a:r>
              <a:rPr lang="en-US" sz="1200" spc="200" kern="0" dirty="0">
                <a:solidFill>
                  <a:schemeClr val="tx2"/>
                </a:solidFill>
                <a:latin typeface="IBM Plex Mono" pitchFamily="34" charset="0"/>
                <a:ea typeface="IBM Plex Mono" pitchFamily="34" charset="-122"/>
                <a:cs typeface="IBM Plex Mono" pitchFamily="34" charset="-120"/>
              </a:rPr>
              <a:t>[ PHOTO: MAGPIE MOCKUP ]</a:t>
            </a:r>
            <a:endParaRPr lang="en-US" sz="1200" dirty="0"/>
          </a:p>
        </p:txBody>
      </p:sp>
      <p:sp>
        <p:nvSpPr>
          <p:cNvPr id="12" name="photo caption 3"/>
          <p:cNvSpPr txBox="1"/>
          <p:nvPr/>
        </p:nvSpPr>
        <p:spPr>
          <a:xfrm>
            <a:off x="5550408" y="4343400"/>
            <a:ext cx="2212848" cy="685800"/>
          </a:xfrm>
          <a:prstGeom prst="rect">
            <a:avLst/>
          </a:prstGeom>
          <a:noFill/>
          <a:ln/>
        </p:spPr>
        <p:txBody>
          <a:bodyPr wrap="square" lIns="0" tIns="0" rIns="0" bIns="0" rtlCol="0" anchor="t"/>
          <a:lstStyle/>
          <a:p>
            <a:pPr indent="0" marL="0">
              <a:buNone/>
            </a:pPr>
            <a:r>
              <a:rPr lang="en-US" sz="1200" dirty="0">
                <a:solidFill>
                  <a:schemeClr val="tx2"/>
                </a:solidFill>
              </a:rPr>
              <a:t>Printed sensor mockup in its cradle</a:t>
            </a:r>
            <a:endParaRPr lang="en-US" sz="1200" dirty="0"/>
          </a:p>
        </p:txBody>
      </p:sp>
      <p:sp>
        <p:nvSpPr>
          <p:cNvPr id="13" name="interference chart slot"/>
          <p:cNvSpPr/>
          <p:nvPr/>
        </p:nvSpPr>
        <p:spPr>
          <a:xfrm>
            <a:off x="8001000" y="1965960"/>
            <a:ext cx="3429000" cy="2286000"/>
          </a:xfrm>
          <a:prstGeom prst="rect">
            <a:avLst/>
          </a:prstGeom>
          <a:solidFill>
            <a:schemeClr val="bg2"/>
          </a:solidFill>
          <a:ln w="19050">
            <a:solidFill>
              <a:schemeClr val="accent4"/>
            </a:solidFill>
            <a:prstDash val="dash"/>
          </a:ln>
        </p:spPr>
      </p:sp>
      <p:sp>
        <p:nvSpPr>
          <p:cNvPr id="14" name="interference chart slot label"/>
          <p:cNvSpPr txBox="1"/>
          <p:nvPr/>
        </p:nvSpPr>
        <p:spPr>
          <a:xfrm>
            <a:off x="8001000" y="1965960"/>
            <a:ext cx="3429000" cy="2286000"/>
          </a:xfrm>
          <a:prstGeom prst="rect">
            <a:avLst/>
          </a:prstGeom>
          <a:noFill/>
          <a:ln/>
        </p:spPr>
        <p:txBody>
          <a:bodyPr wrap="square" rtlCol="0" anchor="ctr"/>
          <a:lstStyle/>
          <a:p>
            <a:pPr algn="ctr" indent="0" marL="0">
              <a:buNone/>
            </a:pPr>
            <a:r>
              <a:rPr lang="en-US" sz="1200" spc="200" kern="0" dirty="0">
                <a:solidFill>
                  <a:schemeClr val="tx2"/>
                </a:solidFill>
                <a:latin typeface="IBM Plex Mono" pitchFamily="34" charset="0"/>
                <a:ea typeface="IBM Plex Mono" pitchFamily="34" charset="-122"/>
                <a:cs typeface="IBM Plex Mono" pitchFamily="34" charset="-120"/>
              </a:rPr>
              <a:t>[ BEFORE / AFTER INTERFERENCE ]</a:t>
            </a:r>
            <a:endParaRPr lang="en-US" sz="1200" dirty="0"/>
          </a:p>
        </p:txBody>
      </p:sp>
      <p:sp>
        <p:nvSpPr>
          <p:cNvPr id="15" name="interference caption"/>
          <p:cNvSpPr txBox="1"/>
          <p:nvPr/>
        </p:nvSpPr>
        <p:spPr>
          <a:xfrm>
            <a:off x="8001000" y="4343400"/>
            <a:ext cx="3429000" cy="685800"/>
          </a:xfrm>
          <a:prstGeom prst="rect">
            <a:avLst/>
          </a:prstGeom>
          <a:noFill/>
          <a:ln/>
        </p:spPr>
        <p:txBody>
          <a:bodyPr wrap="square" lIns="0" tIns="0" rIns="0" bIns="0" rtlCol="0" anchor="t"/>
          <a:lstStyle/>
          <a:p>
            <a:pPr indent="0" marL="0">
              <a:buNone/>
            </a:pPr>
            <a:r>
              <a:rPr lang="en-US" sz="1200" dirty="0">
                <a:solidFill>
                  <a:schemeClr val="tx2"/>
                </a:solidFill>
              </a:rPr>
              <a:t>Motor interference, bench-measured before and after the boom mount</a:t>
            </a:r>
            <a:endParaRPr lang="en-US" sz="1200" dirty="0"/>
          </a:p>
        </p:txBody>
      </p:sp>
      <p:sp>
        <p:nvSpPr>
          <p:cNvPr id="16" name="marker 1"/>
          <p:cNvSpPr/>
          <p:nvPr/>
        </p:nvSpPr>
        <p:spPr>
          <a:xfrm>
            <a:off x="758952" y="5266944"/>
            <a:ext cx="100584" cy="100584"/>
          </a:xfrm>
          <a:prstGeom prst="rect">
            <a:avLst/>
          </a:prstGeom>
          <a:solidFill>
            <a:schemeClr val="accent1"/>
          </a:solidFill>
          <a:ln/>
        </p:spPr>
      </p:sp>
      <p:sp>
        <p:nvSpPr>
          <p:cNvPr id="17" name="point 1"/>
          <p:cNvSpPr txBox="1"/>
          <p:nvPr/>
        </p:nvSpPr>
        <p:spPr>
          <a:xfrm>
            <a:off x="1014984" y="5166360"/>
            <a:ext cx="10415016" cy="420624"/>
          </a:xfrm>
          <a:prstGeom prst="rect">
            <a:avLst/>
          </a:prstGeom>
          <a:noFill/>
          <a:ln/>
        </p:spPr>
        <p:txBody>
          <a:bodyPr wrap="square" lIns="0" tIns="0" rIns="0" bIns="0" rtlCol="0" anchor="t"/>
          <a:lstStyle/>
          <a:p>
            <a:pPr indent="0" marL="0">
              <a:buNone/>
            </a:pPr>
            <a:r>
              <a:rPr lang="en-US" sz="1500" dirty="0">
                <a:solidFill>
                  <a:schemeClr val="tx1"/>
                </a:solidFill>
              </a:rPr>
              <a:t>Particle filter and map tools written here, on top of our pre-event INS and sensor models</a:t>
            </a:r>
            <a:endParaRPr lang="en-US" sz="1500" dirty="0"/>
          </a:p>
        </p:txBody>
      </p:sp>
      <p:sp>
        <p:nvSpPr>
          <p:cNvPr id="18" name="marker 2"/>
          <p:cNvSpPr/>
          <p:nvPr/>
        </p:nvSpPr>
        <p:spPr>
          <a:xfrm>
            <a:off x="758952" y="5724144"/>
            <a:ext cx="100584" cy="100584"/>
          </a:xfrm>
          <a:prstGeom prst="rect">
            <a:avLst/>
          </a:prstGeom>
          <a:solidFill>
            <a:schemeClr val="accent1"/>
          </a:solidFill>
          <a:ln/>
        </p:spPr>
      </p:sp>
      <p:sp>
        <p:nvSpPr>
          <p:cNvPr id="19" name="point 2"/>
          <p:cNvSpPr txBox="1"/>
          <p:nvPr/>
        </p:nvSpPr>
        <p:spPr>
          <a:xfrm>
            <a:off x="1014984" y="5623560"/>
            <a:ext cx="10415016" cy="420624"/>
          </a:xfrm>
          <a:prstGeom prst="rect">
            <a:avLst/>
          </a:prstGeom>
          <a:noFill/>
          <a:ln/>
        </p:spPr>
        <p:txBody>
          <a:bodyPr wrap="square" lIns="0" tIns="0" rIns="0" bIns="0" rtlCol="0" anchor="t"/>
          <a:lstStyle/>
          <a:p>
            <a:pPr indent="0" marL="0">
              <a:buNone/>
            </a:pPr>
            <a:r>
              <a:rPr lang="en-US" sz="1500" dirty="0">
                <a:solidFill>
                  <a:schemeClr val="tx1"/>
                </a:solidFill>
              </a:rPr>
              <a:t>Every part near the sensor printed non-magnetic, by design</a:t>
            </a:r>
            <a:endParaRPr lang="en-US" sz="1500" dirty="0"/>
          </a:p>
        </p:txBody>
      </p:sp>
      <p:sp>
        <p:nvSpPr>
          <p:cNvPr id="25" name="Slide Number Placeholder 0"/>
          <p:cNvSpPr>
            <a:spLocks noGrp="1"/>
          </p:cNvSpPr>
          <p:nvPr>
            <p:ph type="sldNum" sz="quarter" idx="4294967295"/>
          </p:nvPr>
        </p:nvSpPr>
        <p:spPr>
          <a:xfrm>
            <a:off x="11064240"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latin typeface="IBM Plex Mono"/>
                <a:ea typeface="IBM Plex Mono"/>
                <a:cs typeface="IBM Plex Mon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4" type="body" hasCustomPrompt="1"/>
          </p:nvPr>
        </p:nvSpPr>
        <p:spPr>
          <a:xfrm>
            <a:off x="6858000" y="402336"/>
            <a:ext cx="4572000" cy="310896"/>
          </a:xfrm>
          <a:prstGeom prst="rect">
            <a:avLst/>
          </a:prstGeom>
          <a:noFill/>
          <a:ln/>
        </p:spPr>
        <p:txBody>
          <a:bodyPr wrap="square" lIns="0" tIns="0" rIns="0" bIns="0" rtlCol="0" anchor="ctr"/>
          <a:lstStyle/>
          <a:p>
            <a:pPr algn="r" indent="0" marL="0">
              <a:buNone/>
            </a:pPr>
            <a:r>
              <a:rPr lang="en-US" sz="1000" spc="300" kern="0" dirty="0">
                <a:solidFill>
                  <a:schemeClr val="tx2"/>
                </a:solidFill>
                <a:latin typeface="IBM Plex Mono" pitchFamily="34" charset="0"/>
                <a:ea typeface="IBM Plex Mono" pitchFamily="34" charset="-122"/>
                <a:cs typeface="IBM Plex Mono" pitchFamily="34" charset="-120"/>
              </a:rPr>
              <a:t>THE MARKET</a:t>
            </a:r>
            <a:endParaRPr lang="en-US" sz="1000" dirty="0"/>
          </a:p>
        </p:txBody>
      </p:sp>
      <p:sp>
        <p:nvSpPr>
          <p:cNvPr id="3" name="Text 2"/>
          <p:cNvSpPr/>
          <p:nvPr>
            <p:ph idx="105" type="title" hasCustomPrompt="1"/>
          </p:nvPr>
        </p:nvSpPr>
        <p:spPr>
          <a:xfrm>
            <a:off x="758952" y="1078992"/>
            <a:ext cx="10671048" cy="749808"/>
          </a:xfrm>
          <a:prstGeom prst="rect">
            <a:avLst/>
          </a:prstGeom>
          <a:noFill/>
          <a:ln/>
        </p:spPr>
        <p:txBody>
          <a:bodyPr wrap="square" lIns="0" tIns="0" rIns="0" bIns="0" rtlCol="0" anchor="t"/>
          <a:lstStyle/>
          <a:p>
            <a:pPr algn="l" indent="0" marL="0">
              <a:buNone/>
            </a:pPr>
            <a:r>
              <a:rPr lang="en-US" sz="3200" b="1" dirty="0">
                <a:solidFill>
                  <a:schemeClr val="tx1"/>
                </a:solidFill>
                <a:latin typeface="Chakra Petch" pitchFamily="34" charset="0"/>
                <a:ea typeface="Chakra Petch" pitchFamily="34" charset="-122"/>
                <a:cs typeface="Chakra Petch" pitchFamily="34" charset="-120"/>
              </a:rPr>
              <a:t>The race is on; Europe has no small-drone answer</a:t>
            </a:r>
            <a:endParaRPr lang="en-US" sz="3200" dirty="0"/>
          </a:p>
        </p:txBody>
      </p:sp>
      <p:sp>
        <p:nvSpPr>
          <p:cNvPr id="4" name="competitor card 1"/>
          <p:cNvSpPr/>
          <p:nvPr/>
        </p:nvSpPr>
        <p:spPr>
          <a:xfrm>
            <a:off x="758952" y="2011680"/>
            <a:ext cx="3346704" cy="2788920"/>
          </a:xfrm>
          <a:prstGeom prst="roundRect">
            <a:avLst>
              <a:gd name="adj" fmla="val 1967"/>
            </a:avLst>
          </a:prstGeom>
          <a:solidFill>
            <a:schemeClr val="bg2"/>
          </a:solidFill>
          <a:ln w="12700">
            <a:solidFill>
              <a:schemeClr val="accent5"/>
            </a:solidFill>
            <a:prstDash val="solid"/>
          </a:ln>
        </p:spPr>
      </p:sp>
      <p:sp>
        <p:nvSpPr>
          <p:cNvPr id="5" name="who 1"/>
          <p:cNvSpPr txBox="1"/>
          <p:nvPr/>
        </p:nvSpPr>
        <p:spPr>
          <a:xfrm>
            <a:off x="1033272" y="2240280"/>
            <a:ext cx="2798064" cy="594360"/>
          </a:xfrm>
          <a:prstGeom prst="rect">
            <a:avLst/>
          </a:prstGeom>
          <a:noFill/>
          <a:ln/>
        </p:spPr>
        <p:txBody>
          <a:bodyPr wrap="square" lIns="0" tIns="0" rIns="0" bIns="0" rtlCol="0" anchor="t"/>
          <a:lstStyle/>
          <a:p>
            <a:pPr indent="0" marL="0">
              <a:buNone/>
            </a:pPr>
            <a:r>
              <a:rPr lang="en-US" sz="1100" b="1" spc="100" kern="0" dirty="0">
                <a:solidFill>
                  <a:schemeClr val="tx1"/>
                </a:solidFill>
                <a:latin typeface="IBM Plex Mono" pitchFamily="34" charset="0"/>
                <a:ea typeface="IBM Plex Mono" pitchFamily="34" charset="-122"/>
                <a:cs typeface="IBM Plex Mono" pitchFamily="34" charset="-120"/>
              </a:rPr>
              <a:t>NORTHROP GRUMMAN + SANDBOXAQ</a:t>
            </a:r>
            <a:endParaRPr lang="en-US" sz="1100" dirty="0"/>
          </a:p>
        </p:txBody>
      </p:sp>
      <p:sp>
        <p:nvSpPr>
          <p:cNvPr id="6" name="when 1"/>
          <p:cNvSpPr txBox="1"/>
          <p:nvPr/>
        </p:nvSpPr>
        <p:spPr>
          <a:xfrm>
            <a:off x="1033272" y="2816352"/>
            <a:ext cx="2798064" cy="320040"/>
          </a:xfrm>
          <a:prstGeom prst="rect">
            <a:avLst/>
          </a:prstGeom>
          <a:noFill/>
          <a:ln/>
        </p:spPr>
        <p:txBody>
          <a:bodyPr wrap="square" lIns="0" tIns="0" rIns="0" bIns="0" rtlCol="0" anchor="ctr"/>
          <a:lstStyle/>
          <a:p>
            <a:pPr indent="0" marL="0">
              <a:buNone/>
            </a:pPr>
            <a:r>
              <a:rPr lang="en-US" sz="1100" dirty="0">
                <a:solidFill>
                  <a:schemeClr val="accent2"/>
                </a:solidFill>
                <a:latin typeface="IBM Plex Mono" pitchFamily="34" charset="0"/>
                <a:ea typeface="IBM Plex Mono" pitchFamily="34" charset="-122"/>
                <a:cs typeface="IBM Plex Mono" pitchFamily="34" charset="-120"/>
              </a:rPr>
              <a:t>Sep 2026</a:t>
            </a:r>
            <a:endParaRPr lang="en-US" sz="1100" dirty="0"/>
          </a:p>
        </p:txBody>
      </p:sp>
      <p:sp>
        <p:nvSpPr>
          <p:cNvPr id="7" name="what 1"/>
          <p:cNvSpPr txBox="1"/>
          <p:nvPr/>
        </p:nvSpPr>
        <p:spPr>
          <a:xfrm>
            <a:off x="1033272" y="3200400"/>
            <a:ext cx="2798064" cy="1463040"/>
          </a:xfrm>
          <a:prstGeom prst="rect">
            <a:avLst/>
          </a:prstGeom>
          <a:noFill/>
          <a:ln/>
        </p:spPr>
        <p:txBody>
          <a:bodyPr wrap="square" lIns="0" tIns="0" rIns="0" bIns="0" rtlCol="0" anchor="t"/>
          <a:lstStyle/>
          <a:p>
            <a:pPr indent="0" marL="0">
              <a:buNone/>
            </a:pPr>
            <a:r>
              <a:rPr lang="en-US" sz="1400" dirty="0">
                <a:solidFill>
                  <a:schemeClr val="tx1"/>
                </a:solidFill>
              </a:rPr>
              <a:t>Quantum MagNav on the Lumberjack uncrewed aircraft; reported jam-resistant and working over open water</a:t>
            </a:r>
            <a:endParaRPr lang="en-US" sz="1400" dirty="0"/>
          </a:p>
        </p:txBody>
      </p:sp>
      <p:sp>
        <p:nvSpPr>
          <p:cNvPr id="8" name="competitor card 2"/>
          <p:cNvSpPr/>
          <p:nvPr/>
        </p:nvSpPr>
        <p:spPr>
          <a:xfrm>
            <a:off x="4416552" y="2011680"/>
            <a:ext cx="3346704" cy="2788920"/>
          </a:xfrm>
          <a:prstGeom prst="roundRect">
            <a:avLst>
              <a:gd name="adj" fmla="val 1967"/>
            </a:avLst>
          </a:prstGeom>
          <a:solidFill>
            <a:schemeClr val="bg2"/>
          </a:solidFill>
          <a:ln w="12700">
            <a:solidFill>
              <a:schemeClr val="accent5"/>
            </a:solidFill>
            <a:prstDash val="solid"/>
          </a:ln>
        </p:spPr>
      </p:sp>
      <p:sp>
        <p:nvSpPr>
          <p:cNvPr id="9" name="who 2"/>
          <p:cNvSpPr txBox="1"/>
          <p:nvPr/>
        </p:nvSpPr>
        <p:spPr>
          <a:xfrm>
            <a:off x="4690872" y="2240280"/>
            <a:ext cx="2798064" cy="594360"/>
          </a:xfrm>
          <a:prstGeom prst="rect">
            <a:avLst/>
          </a:prstGeom>
          <a:noFill/>
          <a:ln/>
        </p:spPr>
        <p:txBody>
          <a:bodyPr wrap="square" lIns="0" tIns="0" rIns="0" bIns="0" rtlCol="0" anchor="t"/>
          <a:lstStyle/>
          <a:p>
            <a:pPr indent="0" marL="0">
              <a:buNone/>
            </a:pPr>
            <a:r>
              <a:rPr lang="en-US" sz="1100" b="1" spc="100" kern="0" dirty="0">
                <a:solidFill>
                  <a:schemeClr val="tx1"/>
                </a:solidFill>
                <a:latin typeface="IBM Plex Mono" pitchFamily="34" charset="0"/>
                <a:ea typeface="IBM Plex Mono" pitchFamily="34" charset="-122"/>
                <a:cs typeface="IBM Plex Mono" pitchFamily="34" charset="-120"/>
              </a:rPr>
              <a:t>HONEYWELL + DIU</a:t>
            </a:r>
            <a:endParaRPr lang="en-US" sz="1100" dirty="0"/>
          </a:p>
        </p:txBody>
      </p:sp>
      <p:sp>
        <p:nvSpPr>
          <p:cNvPr id="10" name="when 2"/>
          <p:cNvSpPr txBox="1"/>
          <p:nvPr/>
        </p:nvSpPr>
        <p:spPr>
          <a:xfrm>
            <a:off x="4690872" y="2816352"/>
            <a:ext cx="2798064" cy="320040"/>
          </a:xfrm>
          <a:prstGeom prst="rect">
            <a:avLst/>
          </a:prstGeom>
          <a:noFill/>
          <a:ln/>
        </p:spPr>
        <p:txBody>
          <a:bodyPr wrap="square" lIns="0" tIns="0" rIns="0" bIns="0" rtlCol="0" anchor="ctr"/>
          <a:lstStyle/>
          <a:p>
            <a:pPr indent="0" marL="0">
              <a:buNone/>
            </a:pPr>
            <a:r>
              <a:rPr lang="en-US" sz="1100" dirty="0">
                <a:solidFill>
                  <a:schemeClr val="accent2"/>
                </a:solidFill>
                <a:latin typeface="IBM Plex Mono" pitchFamily="34" charset="0"/>
                <a:ea typeface="IBM Plex Mono" pitchFamily="34" charset="-122"/>
                <a:cs typeface="IBM Plex Mono" pitchFamily="34" charset="-120"/>
              </a:rPr>
              <a:t>Sep 2026</a:t>
            </a:r>
            <a:endParaRPr lang="en-US" sz="1100" dirty="0"/>
          </a:p>
        </p:txBody>
      </p:sp>
      <p:sp>
        <p:nvSpPr>
          <p:cNvPr id="11" name="what 2"/>
          <p:cNvSpPr txBox="1"/>
          <p:nvPr/>
        </p:nvSpPr>
        <p:spPr>
          <a:xfrm>
            <a:off x="4690872" y="3200400"/>
            <a:ext cx="2798064" cy="1463040"/>
          </a:xfrm>
          <a:prstGeom prst="rect">
            <a:avLst/>
          </a:prstGeom>
          <a:noFill/>
          <a:ln/>
        </p:spPr>
        <p:txBody>
          <a:bodyPr wrap="square" lIns="0" tIns="0" rIns="0" bIns="0" rtlCol="0" anchor="t"/>
          <a:lstStyle/>
          <a:p>
            <a:pPr indent="0" marL="0">
              <a:buNone/>
            </a:pPr>
            <a:r>
              <a:rPr lang="en-US" sz="1400" dirty="0">
                <a:solidFill>
                  <a:schemeClr val="tx1"/>
                </a:solidFill>
              </a:rPr>
              <a:t>Embraer 170 flew 4 h 23 min over the Pacific without GPS; 89% better than conventional backups</a:t>
            </a:r>
            <a:endParaRPr lang="en-US" sz="1400" dirty="0"/>
          </a:p>
        </p:txBody>
      </p:sp>
      <p:sp>
        <p:nvSpPr>
          <p:cNvPr id="12" name="competitor card 3"/>
          <p:cNvSpPr/>
          <p:nvPr/>
        </p:nvSpPr>
        <p:spPr>
          <a:xfrm>
            <a:off x="8074152" y="2011680"/>
            <a:ext cx="3346704" cy="2788920"/>
          </a:xfrm>
          <a:prstGeom prst="roundRect">
            <a:avLst>
              <a:gd name="adj" fmla="val 1967"/>
            </a:avLst>
          </a:prstGeom>
          <a:solidFill>
            <a:schemeClr val="bg2"/>
          </a:solidFill>
          <a:ln w="12700">
            <a:solidFill>
              <a:schemeClr val="accent5"/>
            </a:solidFill>
            <a:prstDash val="solid"/>
          </a:ln>
        </p:spPr>
      </p:sp>
      <p:sp>
        <p:nvSpPr>
          <p:cNvPr id="13" name="who 3"/>
          <p:cNvSpPr txBox="1"/>
          <p:nvPr/>
        </p:nvSpPr>
        <p:spPr>
          <a:xfrm>
            <a:off x="8348472" y="2240280"/>
            <a:ext cx="2798064" cy="594360"/>
          </a:xfrm>
          <a:prstGeom prst="rect">
            <a:avLst/>
          </a:prstGeom>
          <a:noFill/>
          <a:ln/>
        </p:spPr>
        <p:txBody>
          <a:bodyPr wrap="square" lIns="0" tIns="0" rIns="0" bIns="0" rtlCol="0" anchor="t"/>
          <a:lstStyle/>
          <a:p>
            <a:pPr indent="0" marL="0">
              <a:buNone/>
            </a:pPr>
            <a:r>
              <a:rPr lang="en-US" sz="1100" b="1" spc="100" kern="0" dirty="0">
                <a:solidFill>
                  <a:schemeClr val="tx1"/>
                </a:solidFill>
                <a:latin typeface="IBM Plex Mono" pitchFamily="34" charset="0"/>
                <a:ea typeface="IBM Plex Mono" pitchFamily="34" charset="-122"/>
                <a:cs typeface="IBM Plex Mono" pitchFamily="34" charset="-120"/>
              </a:rPr>
              <a:t>Q-CTRL</a:t>
            </a:r>
            <a:endParaRPr lang="en-US" sz="1100" dirty="0"/>
          </a:p>
        </p:txBody>
      </p:sp>
      <p:sp>
        <p:nvSpPr>
          <p:cNvPr id="14" name="when 3"/>
          <p:cNvSpPr txBox="1"/>
          <p:nvPr/>
        </p:nvSpPr>
        <p:spPr>
          <a:xfrm>
            <a:off x="8348472" y="2816352"/>
            <a:ext cx="2798064" cy="320040"/>
          </a:xfrm>
          <a:prstGeom prst="rect">
            <a:avLst/>
          </a:prstGeom>
          <a:noFill/>
          <a:ln/>
        </p:spPr>
        <p:txBody>
          <a:bodyPr wrap="square" lIns="0" tIns="0" rIns="0" bIns="0" rtlCol="0" anchor="ctr"/>
          <a:lstStyle/>
          <a:p>
            <a:pPr indent="0" marL="0">
              <a:buNone/>
            </a:pPr>
            <a:r>
              <a:rPr lang="en-US" sz="1100" dirty="0">
                <a:solidFill>
                  <a:schemeClr val="accent2"/>
                </a:solidFill>
                <a:latin typeface="IBM Plex Mono" pitchFamily="34" charset="0"/>
                <a:ea typeface="IBM Plex Mono" pitchFamily="34" charset="-122"/>
                <a:cs typeface="IBM Plex Mono" pitchFamily="34" charset="-120"/>
              </a:rPr>
              <a:t>2025</a:t>
            </a:r>
            <a:endParaRPr lang="en-US" sz="1100" dirty="0"/>
          </a:p>
        </p:txBody>
      </p:sp>
      <p:sp>
        <p:nvSpPr>
          <p:cNvPr id="15" name="what 3"/>
          <p:cNvSpPr txBox="1"/>
          <p:nvPr/>
        </p:nvSpPr>
        <p:spPr>
          <a:xfrm>
            <a:off x="8348472" y="3200400"/>
            <a:ext cx="2798064" cy="1463040"/>
          </a:xfrm>
          <a:prstGeom prst="rect">
            <a:avLst/>
          </a:prstGeom>
          <a:noFill/>
          <a:ln/>
        </p:spPr>
        <p:txBody>
          <a:bodyPr wrap="square" lIns="0" tIns="0" rIns="0" bIns="0" rtlCol="0" anchor="t"/>
          <a:lstStyle/>
          <a:p>
            <a:pPr indent="0" marL="0">
              <a:buNone/>
            </a:pPr>
            <a:r>
              <a:rPr lang="en-US" sz="1400" dirty="0">
                <a:solidFill>
                  <a:schemeClr val="tx1"/>
                </a:solidFill>
              </a:rPr>
              <a:t>Airborne quantum MagNav up to ~46× lower error than an aided strategic-grade INS</a:t>
            </a:r>
            <a:endParaRPr lang="en-US" sz="1400" dirty="0"/>
          </a:p>
        </p:txBody>
      </p:sp>
      <p:sp>
        <p:nvSpPr>
          <p:cNvPr id="16" name="gap banner"/>
          <p:cNvSpPr/>
          <p:nvPr/>
        </p:nvSpPr>
        <p:spPr>
          <a:xfrm>
            <a:off x="758952" y="5074920"/>
            <a:ext cx="10671048" cy="914400"/>
          </a:xfrm>
          <a:prstGeom prst="roundRect">
            <a:avLst>
              <a:gd name="adj" fmla="val 6000"/>
            </a:avLst>
          </a:prstGeom>
          <a:solidFill>
            <a:schemeClr val="tx1"/>
          </a:solidFill>
          <a:ln w="12700">
            <a:solidFill>
              <a:schemeClr val="tx1"/>
            </a:solidFill>
            <a:prstDash val="solid"/>
          </a:ln>
        </p:spPr>
      </p:sp>
      <p:sp>
        <p:nvSpPr>
          <p:cNvPr id="17" name="gap text"/>
          <p:cNvSpPr txBox="1"/>
          <p:nvPr/>
        </p:nvSpPr>
        <p:spPr>
          <a:xfrm>
            <a:off x="1078992" y="5074920"/>
            <a:ext cx="10030968" cy="914400"/>
          </a:xfrm>
          <a:prstGeom prst="rect">
            <a:avLst/>
          </a:prstGeom>
          <a:noFill/>
          <a:ln/>
        </p:spPr>
        <p:txBody>
          <a:bodyPr wrap="square" lIns="0" tIns="0" rIns="0" bIns="0" rtlCol="0" anchor="ctr"/>
          <a:lstStyle/>
          <a:p>
            <a:pPr indent="0" marL="0">
              <a:buNone/>
            </a:pPr>
            <a:r>
              <a:rPr lang="en-US" sz="1700" b="1" dirty="0">
                <a:solidFill>
                  <a:schemeClr val="accent1"/>
                </a:solidFill>
              </a:rPr>
              <a:t>Cohera: </a:t>
            </a:r>
            <a:pPr indent="0" marL="0">
              <a:buNone/>
            </a:pPr>
            <a:r>
              <a:rPr lang="en-US" sz="1700" dirty="0">
                <a:solidFill>
                  <a:schemeClr val="bg1"/>
                </a:solidFill>
              </a:rPr>
              <a:t>European, built on an open national map, sized for small drones that Ireland can afford to fly in numbers.</a:t>
            </a:r>
            <a:endParaRPr lang="en-US" sz="1700" dirty="0"/>
          </a:p>
        </p:txBody>
      </p:sp>
      <p:sp>
        <p:nvSpPr>
          <p:cNvPr id="25" name="Slide Number Placeholder 0"/>
          <p:cNvSpPr>
            <a:spLocks noGrp="1"/>
          </p:cNvSpPr>
          <p:nvPr>
            <p:ph type="sldNum" sz="quarter" idx="4294967295"/>
          </p:nvPr>
        </p:nvSpPr>
        <p:spPr>
          <a:xfrm>
            <a:off x="11064240"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latin typeface="IBM Plex Mono"/>
                <a:ea typeface="IBM Plex Mono"/>
                <a:cs typeface="IBM Plex Mon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4" type="body" hasCustomPrompt="1"/>
          </p:nvPr>
        </p:nvSpPr>
        <p:spPr>
          <a:xfrm>
            <a:off x="6858000" y="402336"/>
            <a:ext cx="4572000" cy="310896"/>
          </a:xfrm>
          <a:prstGeom prst="rect">
            <a:avLst/>
          </a:prstGeom>
          <a:noFill/>
          <a:ln/>
        </p:spPr>
        <p:txBody>
          <a:bodyPr wrap="square" lIns="0" tIns="0" rIns="0" bIns="0" rtlCol="0" anchor="ctr"/>
          <a:lstStyle/>
          <a:p>
            <a:pPr algn="r" indent="0" marL="0">
              <a:buNone/>
            </a:pPr>
            <a:r>
              <a:rPr lang="en-US" sz="1000" spc="300" kern="0" dirty="0">
                <a:solidFill>
                  <a:schemeClr val="tx2"/>
                </a:solidFill>
                <a:latin typeface="IBM Plex Mono" pitchFamily="34" charset="0"/>
                <a:ea typeface="IBM Plex Mono" pitchFamily="34" charset="-122"/>
                <a:cs typeface="IBM Plex Mono" pitchFamily="34" charset="-120"/>
              </a:rPr>
              <a:t>ROADMAP</a:t>
            </a:r>
            <a:endParaRPr lang="en-US" sz="1000" dirty="0"/>
          </a:p>
        </p:txBody>
      </p:sp>
      <p:sp>
        <p:nvSpPr>
          <p:cNvPr id="3" name="Text 2"/>
          <p:cNvSpPr/>
          <p:nvPr>
            <p:ph idx="105" type="title" hasCustomPrompt="1"/>
          </p:nvPr>
        </p:nvSpPr>
        <p:spPr>
          <a:xfrm>
            <a:off x="758952" y="1078992"/>
            <a:ext cx="10671048" cy="749808"/>
          </a:xfrm>
          <a:prstGeom prst="rect">
            <a:avLst/>
          </a:prstGeom>
          <a:noFill/>
          <a:ln/>
        </p:spPr>
        <p:txBody>
          <a:bodyPr wrap="square" lIns="0" tIns="0" rIns="0" bIns="0" rtlCol="0" anchor="t"/>
          <a:lstStyle/>
          <a:p>
            <a:pPr algn="l" indent="0" marL="0">
              <a:buNone/>
            </a:pPr>
            <a:r>
              <a:rPr lang="en-US" sz="3200" b="1" dirty="0">
                <a:solidFill>
                  <a:schemeClr val="tx1"/>
                </a:solidFill>
                <a:latin typeface="Chakra Petch" pitchFamily="34" charset="0"/>
                <a:ea typeface="Chakra Petch" pitchFamily="34" charset="-122"/>
                <a:cs typeface="Chakra Petch" pitchFamily="34" charset="-120"/>
              </a:rPr>
              <a:t>From hackathon to a Defence Forces trial</a:t>
            </a:r>
            <a:endParaRPr lang="en-US" sz="3200" dirty="0"/>
          </a:p>
        </p:txBody>
      </p:sp>
      <p:sp>
        <p:nvSpPr>
          <p:cNvPr id="4" name="phase 1 marker"/>
          <p:cNvSpPr/>
          <p:nvPr/>
        </p:nvSpPr>
        <p:spPr>
          <a:xfrm>
            <a:off x="758952" y="2011680"/>
            <a:ext cx="274320" cy="274320"/>
          </a:xfrm>
          <a:prstGeom prst="ellipse">
            <a:avLst/>
          </a:prstGeom>
          <a:solidFill>
            <a:schemeClr val="accent1"/>
          </a:solidFill>
          <a:ln w="25400">
            <a:solidFill>
              <a:schemeClr val="accent2"/>
            </a:solidFill>
            <a:prstDash val="solid"/>
          </a:ln>
        </p:spPr>
      </p:sp>
      <p:sp>
        <p:nvSpPr>
          <p:cNvPr id="5" name="phase 1 link"/>
          <p:cNvSpPr/>
          <p:nvPr/>
        </p:nvSpPr>
        <p:spPr>
          <a:xfrm>
            <a:off x="1106424" y="2148840"/>
            <a:ext cx="3236976" cy="0"/>
          </a:xfrm>
          <a:prstGeom prst="line">
            <a:avLst/>
          </a:prstGeom>
          <a:noFill/>
          <a:ln w="19050">
            <a:solidFill>
              <a:schemeClr val="accent4"/>
            </a:solidFill>
            <a:prstDash val="dash"/>
          </a:ln>
        </p:spPr>
      </p:sp>
      <p:sp>
        <p:nvSpPr>
          <p:cNvPr id="6" name="phase 1 label"/>
          <p:cNvSpPr txBox="1"/>
          <p:nvPr/>
        </p:nvSpPr>
        <p:spPr>
          <a:xfrm>
            <a:off x="758952" y="2468880"/>
            <a:ext cx="3346704" cy="365760"/>
          </a:xfrm>
          <a:prstGeom prst="rect">
            <a:avLst/>
          </a:prstGeom>
          <a:noFill/>
          <a:ln/>
        </p:spPr>
        <p:txBody>
          <a:bodyPr wrap="square" lIns="0" tIns="0" rIns="0" bIns="0" rtlCol="0" anchor="ctr"/>
          <a:lstStyle/>
          <a:p>
            <a:pPr indent="0" marL="0">
              <a:buNone/>
            </a:pPr>
            <a:r>
              <a:rPr lang="en-US" sz="1300" b="1" spc="200" kern="0" dirty="0">
                <a:solidFill>
                  <a:schemeClr val="accent2"/>
                </a:solidFill>
                <a:latin typeface="IBM Plex Mono" pitchFamily="34" charset="0"/>
                <a:ea typeface="IBM Plex Mono" pitchFamily="34" charset="-122"/>
                <a:cs typeface="IBM Plex Mono" pitchFamily="34" charset="-120"/>
              </a:rPr>
              <a:t>NOW</a:t>
            </a:r>
            <a:endParaRPr lang="en-US" sz="1300" dirty="0"/>
          </a:p>
        </p:txBody>
      </p:sp>
      <p:sp>
        <p:nvSpPr>
          <p:cNvPr id="7" name="phase 1 text"/>
          <p:cNvSpPr txBox="1"/>
          <p:nvPr/>
        </p:nvSpPr>
        <p:spPr>
          <a:xfrm>
            <a:off x="758952" y="2926080"/>
            <a:ext cx="3163824" cy="1463040"/>
          </a:xfrm>
          <a:prstGeom prst="rect">
            <a:avLst/>
          </a:prstGeom>
          <a:noFill/>
          <a:ln/>
        </p:spPr>
        <p:txBody>
          <a:bodyPr wrap="square" lIns="0" tIns="0" rIns="0" bIns="0" rtlCol="0" anchor="t"/>
          <a:lstStyle/>
          <a:p>
            <a:pPr indent="0" marL="0">
              <a:buNone/>
            </a:pPr>
            <a:r>
              <a:rPr lang="en-US" sz="1500" dirty="0">
                <a:solidFill>
                  <a:schemeClr val="tx1"/>
                </a:solidFill>
              </a:rPr>
              <a:t>Filter validated on simulated and real data; X500 and Moose built; interference measured and reduced</a:t>
            </a:r>
            <a:endParaRPr lang="en-US" sz="1500" dirty="0"/>
          </a:p>
        </p:txBody>
      </p:sp>
      <p:sp>
        <p:nvSpPr>
          <p:cNvPr id="8" name="phase 2 marker"/>
          <p:cNvSpPr/>
          <p:nvPr/>
        </p:nvSpPr>
        <p:spPr>
          <a:xfrm>
            <a:off x="4416552" y="2011680"/>
            <a:ext cx="274320" cy="274320"/>
          </a:xfrm>
          <a:prstGeom prst="ellipse">
            <a:avLst/>
          </a:prstGeom>
          <a:solidFill>
            <a:schemeClr val="bg1"/>
          </a:solidFill>
          <a:ln w="25400">
            <a:solidFill>
              <a:schemeClr val="accent2"/>
            </a:solidFill>
            <a:prstDash val="solid"/>
          </a:ln>
        </p:spPr>
      </p:sp>
      <p:sp>
        <p:nvSpPr>
          <p:cNvPr id="9" name="phase 2 link"/>
          <p:cNvSpPr/>
          <p:nvPr/>
        </p:nvSpPr>
        <p:spPr>
          <a:xfrm>
            <a:off x="4764024" y="2148840"/>
            <a:ext cx="3236976" cy="0"/>
          </a:xfrm>
          <a:prstGeom prst="line">
            <a:avLst/>
          </a:prstGeom>
          <a:noFill/>
          <a:ln w="19050">
            <a:solidFill>
              <a:schemeClr val="accent4"/>
            </a:solidFill>
            <a:prstDash val="dash"/>
          </a:ln>
        </p:spPr>
      </p:sp>
      <p:sp>
        <p:nvSpPr>
          <p:cNvPr id="10" name="phase 2 label"/>
          <p:cNvSpPr txBox="1"/>
          <p:nvPr/>
        </p:nvSpPr>
        <p:spPr>
          <a:xfrm>
            <a:off x="4416552" y="2468880"/>
            <a:ext cx="3346704" cy="365760"/>
          </a:xfrm>
          <a:prstGeom prst="rect">
            <a:avLst/>
          </a:prstGeom>
          <a:noFill/>
          <a:ln/>
        </p:spPr>
        <p:txBody>
          <a:bodyPr wrap="square" lIns="0" tIns="0" rIns="0" bIns="0" rtlCol="0" anchor="ctr"/>
          <a:lstStyle/>
          <a:p>
            <a:pPr indent="0" marL="0">
              <a:buNone/>
            </a:pPr>
            <a:r>
              <a:rPr lang="en-US" sz="1300" b="1" spc="200" kern="0" dirty="0">
                <a:solidFill>
                  <a:schemeClr val="accent2"/>
                </a:solidFill>
                <a:latin typeface="IBM Plex Mono" pitchFamily="34" charset="0"/>
                <a:ea typeface="IBM Plex Mono" pitchFamily="34" charset="-122"/>
                <a:cs typeface="IBM Plex Mono" pitchFamily="34" charset="-120"/>
              </a:rPr>
              <a:t>3 MONTHS</a:t>
            </a:r>
            <a:endParaRPr lang="en-US" sz="1300" dirty="0"/>
          </a:p>
        </p:txBody>
      </p:sp>
      <p:sp>
        <p:nvSpPr>
          <p:cNvPr id="11" name="phase 2 text"/>
          <p:cNvSpPr txBox="1"/>
          <p:nvPr/>
        </p:nvSpPr>
        <p:spPr>
          <a:xfrm>
            <a:off x="4416552" y="2926080"/>
            <a:ext cx="3163824" cy="1463040"/>
          </a:xfrm>
          <a:prstGeom prst="rect">
            <a:avLst/>
          </a:prstGeom>
          <a:noFill/>
          <a:ln/>
        </p:spPr>
        <p:txBody>
          <a:bodyPr wrap="square" lIns="0" tIns="0" rIns="0" bIns="0" rtlCol="0" anchor="t"/>
          <a:lstStyle/>
          <a:p>
            <a:pPr indent="0" marL="0">
              <a:buNone/>
            </a:pPr>
            <a:r>
              <a:rPr lang="en-US" sz="1500" dirty="0">
                <a:solidFill>
                  <a:schemeClr val="tx1"/>
                </a:solidFill>
              </a:rPr>
              <a:t>Fly a real QTFM on the X500 over a Tellus survey block; real-time filter on a companion computer</a:t>
            </a:r>
            <a:endParaRPr lang="en-US" sz="1500" dirty="0"/>
          </a:p>
        </p:txBody>
      </p:sp>
      <p:sp>
        <p:nvSpPr>
          <p:cNvPr id="12" name="phase 3 marker"/>
          <p:cNvSpPr/>
          <p:nvPr/>
        </p:nvSpPr>
        <p:spPr>
          <a:xfrm>
            <a:off x="8074152" y="2011680"/>
            <a:ext cx="274320" cy="274320"/>
          </a:xfrm>
          <a:prstGeom prst="ellipse">
            <a:avLst/>
          </a:prstGeom>
          <a:solidFill>
            <a:schemeClr val="bg1"/>
          </a:solidFill>
          <a:ln w="25400">
            <a:solidFill>
              <a:schemeClr val="accent2"/>
            </a:solidFill>
            <a:prstDash val="solid"/>
          </a:ln>
        </p:spPr>
      </p:sp>
      <p:sp>
        <p:nvSpPr>
          <p:cNvPr id="13" name="phase 3 label"/>
          <p:cNvSpPr txBox="1"/>
          <p:nvPr/>
        </p:nvSpPr>
        <p:spPr>
          <a:xfrm>
            <a:off x="8074152" y="2468880"/>
            <a:ext cx="3346704" cy="365760"/>
          </a:xfrm>
          <a:prstGeom prst="rect">
            <a:avLst/>
          </a:prstGeom>
          <a:noFill/>
          <a:ln/>
        </p:spPr>
        <p:txBody>
          <a:bodyPr wrap="square" lIns="0" tIns="0" rIns="0" bIns="0" rtlCol="0" anchor="ctr"/>
          <a:lstStyle/>
          <a:p>
            <a:pPr indent="0" marL="0">
              <a:buNone/>
            </a:pPr>
            <a:r>
              <a:rPr lang="en-US" sz="1300" b="1" spc="200" kern="0" dirty="0">
                <a:solidFill>
                  <a:schemeClr val="accent2"/>
                </a:solidFill>
                <a:latin typeface="IBM Plex Mono" pitchFamily="34" charset="0"/>
                <a:ea typeface="IBM Plex Mono" pitchFamily="34" charset="-122"/>
                <a:cs typeface="IBM Plex Mono" pitchFamily="34" charset="-120"/>
              </a:rPr>
              <a:t>6 MONTHS</a:t>
            </a:r>
            <a:endParaRPr lang="en-US" sz="1300" dirty="0"/>
          </a:p>
        </p:txBody>
      </p:sp>
      <p:sp>
        <p:nvSpPr>
          <p:cNvPr id="14" name="phase 3 text"/>
          <p:cNvSpPr txBox="1"/>
          <p:nvPr/>
        </p:nvSpPr>
        <p:spPr>
          <a:xfrm>
            <a:off x="8074152" y="2926080"/>
            <a:ext cx="3163824" cy="1463040"/>
          </a:xfrm>
          <a:prstGeom prst="rect">
            <a:avLst/>
          </a:prstGeom>
          <a:noFill/>
          <a:ln/>
        </p:spPr>
        <p:txBody>
          <a:bodyPr wrap="square" lIns="0" tIns="0" rIns="0" bIns="0" rtlCol="0" anchor="t"/>
          <a:lstStyle/>
          <a:p>
            <a:pPr indent="0" marL="0">
              <a:buNone/>
            </a:pPr>
            <a:r>
              <a:rPr lang="en-US" sz="1500" dirty="0">
                <a:solidFill>
                  <a:schemeClr val="tx1"/>
                </a:solidFill>
              </a:rPr>
              <a:t>Maritime trial with the Naval Service; evaluate the export-friendly QTFM-B; close the offshore map gap</a:t>
            </a:r>
            <a:endParaRPr lang="en-US" sz="1500" dirty="0"/>
          </a:p>
        </p:txBody>
      </p:sp>
      <p:sp>
        <p:nvSpPr>
          <p:cNvPr id="15" name="ask card"/>
          <p:cNvSpPr/>
          <p:nvPr/>
        </p:nvSpPr>
        <p:spPr>
          <a:xfrm>
            <a:off x="758952" y="4709160"/>
            <a:ext cx="10671048" cy="1234440"/>
          </a:xfrm>
          <a:prstGeom prst="roundRect">
            <a:avLst>
              <a:gd name="adj" fmla="val 4444"/>
            </a:avLst>
          </a:prstGeom>
          <a:solidFill>
            <a:schemeClr val="bg2"/>
          </a:solidFill>
          <a:ln w="19050">
            <a:solidFill>
              <a:schemeClr val="accent2"/>
            </a:solidFill>
            <a:prstDash val="solid"/>
          </a:ln>
        </p:spPr>
      </p:sp>
      <p:sp>
        <p:nvSpPr>
          <p:cNvPr id="16" name="ask label"/>
          <p:cNvSpPr txBox="1"/>
          <p:nvPr/>
        </p:nvSpPr>
        <p:spPr>
          <a:xfrm>
            <a:off x="1078992" y="4846320"/>
            <a:ext cx="2743200" cy="320040"/>
          </a:xfrm>
          <a:prstGeom prst="rect">
            <a:avLst/>
          </a:prstGeom>
          <a:noFill/>
          <a:ln/>
        </p:spPr>
        <p:txBody>
          <a:bodyPr wrap="square" lIns="0" tIns="0" rIns="0" bIns="0" rtlCol="0" anchor="ctr"/>
          <a:lstStyle/>
          <a:p>
            <a:pPr indent="0" marL="0">
              <a:buNone/>
            </a:pPr>
            <a:r>
              <a:rPr lang="en-US" sz="1100" b="1" spc="300" kern="0" dirty="0">
                <a:solidFill>
                  <a:schemeClr val="accent2"/>
                </a:solidFill>
                <a:latin typeface="IBM Plex Mono" pitchFamily="34" charset="0"/>
                <a:ea typeface="IBM Plex Mono" pitchFamily="34" charset="-122"/>
                <a:cs typeface="IBM Plex Mono" pitchFamily="34" charset="-120"/>
              </a:rPr>
              <a:t>THE ASK</a:t>
            </a:r>
            <a:endParaRPr lang="en-US" sz="1100" dirty="0"/>
          </a:p>
        </p:txBody>
      </p:sp>
      <p:sp>
        <p:nvSpPr>
          <p:cNvPr id="17" name="ask text"/>
          <p:cNvSpPr txBox="1"/>
          <p:nvPr/>
        </p:nvSpPr>
        <p:spPr>
          <a:xfrm>
            <a:off x="1078992" y="5193792"/>
            <a:ext cx="10030968" cy="640080"/>
          </a:xfrm>
          <a:prstGeom prst="rect">
            <a:avLst/>
          </a:prstGeom>
          <a:noFill/>
          <a:ln/>
        </p:spPr>
        <p:txBody>
          <a:bodyPr wrap="square" lIns="0" tIns="0" rIns="0" bIns="0" rtlCol="0" anchor="t"/>
          <a:lstStyle/>
          <a:p>
            <a:pPr indent="0" marL="0">
              <a:buNone/>
            </a:pPr>
            <a:r>
              <a:rPr lang="en-US" sz="2100" b="1" dirty="0">
                <a:solidFill>
                  <a:schemeClr val="tx1"/>
                </a:solidFill>
                <a:latin typeface="Chakra Petch" pitchFamily="34" charset="0"/>
                <a:ea typeface="Chakra Petch" pitchFamily="34" charset="-122"/>
                <a:cs typeface="Chakra Petch" pitchFamily="34" charset="-120"/>
              </a:rPr>
              <a:t>A Defence Forces test range and a loaned quantum sensor, so we can fly the real thing over Irish geology.</a:t>
            </a:r>
            <a:endParaRPr lang="en-US" sz="2100" dirty="0"/>
          </a:p>
        </p:txBody>
      </p:sp>
      <p:sp>
        <p:nvSpPr>
          <p:cNvPr id="25" name="Slide Number Placeholder 0"/>
          <p:cNvSpPr>
            <a:spLocks noGrp="1"/>
          </p:cNvSpPr>
          <p:nvPr>
            <p:ph type="sldNum" sz="quarter" idx="4294967295"/>
          </p:nvPr>
        </p:nvSpPr>
        <p:spPr>
          <a:xfrm>
            <a:off x="11064240"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latin typeface="IBM Plex Mono"/>
                <a:ea typeface="IBM Plex Mono"/>
                <a:cs typeface="IBM Plex Mon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emblem" descr="/tmp/claude-0/-home-claude/db79777d-d733-5547-bcd2-6143ee6bb461/scratchpad/deck/assets/emblem-ondark.png">    </p:cNvPr>
          <p:cNvPicPr>
            <a:picLocks noChangeAspect="1"/>
          </p:cNvPicPr>
          <p:nvPr/>
        </p:nvPicPr>
        <p:blipFill>
          <a:blip r:embed="rId1"/>
          <a:stretch>
            <a:fillRect/>
          </a:stretch>
        </p:blipFill>
        <p:spPr>
          <a:xfrm>
            <a:off x="868680" y="1417320"/>
            <a:ext cx="3566160" cy="3566160"/>
          </a:xfrm>
          <a:prstGeom prst="rect">
            <a:avLst/>
          </a:prstGeom>
        </p:spPr>
      </p:pic>
      <p:pic>
        <p:nvPicPr>
          <p:cNvPr id="3" name="lockup" descr="/tmp/claude-0/-home-claude/db79777d-d733-5547-bcd2-6143ee6bb461/scratchpad/deck/assets/lockup-tag-dark.png">    </p:cNvPr>
          <p:cNvPicPr>
            <a:picLocks noChangeAspect="1"/>
          </p:cNvPicPr>
          <p:nvPr/>
        </p:nvPicPr>
        <p:blipFill>
          <a:blip r:embed="rId2"/>
          <a:stretch>
            <a:fillRect/>
          </a:stretch>
        </p:blipFill>
        <p:spPr>
          <a:xfrm>
            <a:off x="5120640" y="1737360"/>
            <a:ext cx="5852160" cy="1802989"/>
          </a:xfrm>
          <a:prstGeom prst="rect">
            <a:avLst/>
          </a:prstGeom>
        </p:spPr>
      </p:pic>
      <p:sp>
        <p:nvSpPr>
          <p:cNvPr id="4" name="tagline"/>
          <p:cNvSpPr txBox="1"/>
          <p:nvPr/>
        </p:nvSpPr>
        <p:spPr>
          <a:xfrm>
            <a:off x="5303520" y="3794760"/>
            <a:ext cx="5943600" cy="1097280"/>
          </a:xfrm>
          <a:prstGeom prst="rect">
            <a:avLst/>
          </a:prstGeom>
          <a:noFill/>
          <a:ln/>
        </p:spPr>
        <p:txBody>
          <a:bodyPr wrap="square" lIns="0" tIns="0" rIns="0" bIns="0" rtlCol="0" anchor="t"/>
          <a:lstStyle/>
          <a:p>
            <a:pPr indent="0" marL="0">
              <a:buNone/>
            </a:pPr>
            <a:r>
              <a:rPr lang="en-US" sz="2200" dirty="0">
                <a:solidFill>
                  <a:schemeClr val="bg1"/>
                </a:solidFill>
              </a:rPr>
              <a:t>Navigation that keeps working when GNSS is jammed, spoofed or simply absent.</a:t>
            </a:r>
            <a:endParaRPr lang="en-US" sz="2200" dirty="0"/>
          </a:p>
        </p:txBody>
      </p:sp>
      <p:sp>
        <p:nvSpPr>
          <p:cNvPr id="5" name="team"/>
          <p:cNvSpPr txBox="1"/>
          <p:nvPr/>
        </p:nvSpPr>
        <p:spPr>
          <a:xfrm>
            <a:off x="868680" y="6035040"/>
            <a:ext cx="6583680" cy="320040"/>
          </a:xfrm>
          <a:prstGeom prst="rect">
            <a:avLst/>
          </a:prstGeom>
          <a:noFill/>
          <a:ln/>
        </p:spPr>
        <p:txBody>
          <a:bodyPr wrap="square" lIns="0" tIns="0" rIns="0" bIns="0" rtlCol="0" anchor="ctr"/>
          <a:lstStyle/>
          <a:p>
            <a:pPr indent="0" marL="0">
              <a:buNone/>
            </a:pPr>
            <a:r>
              <a:rPr lang="en-US" sz="1050" spc="200" kern="0" dirty="0">
                <a:solidFill>
                  <a:srgbClr val="A9B4C2"/>
                </a:solidFill>
                <a:latin typeface="IBM Plex Mono" pitchFamily="34" charset="0"/>
                <a:ea typeface="IBM Plex Mono" pitchFamily="34" charset="-122"/>
                <a:cs typeface="IBM Plex Mono" pitchFamily="34" charset="-120"/>
              </a:rPr>
              <a:t>PETER DUNNIECE · ALEXANDER O'SULLIVAN · LORCAN GRIMES</a:t>
            </a:r>
            <a:endParaRPr lang="en-US" sz="1050" dirty="0"/>
          </a:p>
        </p:txBody>
      </p:sp>
      <p:sp>
        <p:nvSpPr>
          <p:cNvPr id="6" name="close"/>
          <p:cNvSpPr txBox="1"/>
          <p:nvPr/>
        </p:nvSpPr>
        <p:spPr>
          <a:xfrm>
            <a:off x="6675120" y="6035040"/>
            <a:ext cx="4663440" cy="320040"/>
          </a:xfrm>
          <a:prstGeom prst="rect">
            <a:avLst/>
          </a:prstGeom>
          <a:noFill/>
          <a:ln/>
        </p:spPr>
        <p:txBody>
          <a:bodyPr wrap="square" lIns="0" tIns="0" rIns="0" bIns="0" rtlCol="0" anchor="ctr"/>
          <a:lstStyle/>
          <a:p>
            <a:pPr algn="r" indent="0" marL="0">
              <a:buNone/>
            </a:pPr>
            <a:r>
              <a:rPr lang="en-US" sz="1050" spc="200" kern="0" dirty="0">
                <a:solidFill>
                  <a:schemeClr val="accent1"/>
                </a:solidFill>
                <a:latin typeface="IBM Plex Mono" pitchFamily="34" charset="0"/>
                <a:ea typeface="IBM Plex Mono" pitchFamily="34" charset="-122"/>
                <a:cs typeface="IBM Plex Mono" pitchFamily="34" charset="-120"/>
              </a:rPr>
              <a:t>THANK YOU · QUESTIONS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4" type="body" hasCustomPrompt="1"/>
          </p:nvPr>
        </p:nvSpPr>
        <p:spPr>
          <a:xfrm>
            <a:off x="6858000" y="402336"/>
            <a:ext cx="4572000" cy="310896"/>
          </a:xfrm>
          <a:prstGeom prst="rect">
            <a:avLst/>
          </a:prstGeom>
          <a:noFill/>
          <a:ln/>
        </p:spPr>
        <p:txBody>
          <a:bodyPr wrap="square" lIns="0" tIns="0" rIns="0" bIns="0" rtlCol="0" anchor="ctr"/>
          <a:lstStyle/>
          <a:p>
            <a:pPr algn="r" indent="0" marL="0">
              <a:buNone/>
            </a:pPr>
            <a:r>
              <a:rPr lang="en-US" sz="1000" spc="300" kern="0" dirty="0">
                <a:solidFill>
                  <a:schemeClr val="tx2"/>
                </a:solidFill>
                <a:latin typeface="IBM Plex Mono" pitchFamily="34" charset="0"/>
                <a:ea typeface="IBM Plex Mono" pitchFamily="34" charset="-122"/>
                <a:cs typeface="IBM Plex Mono" pitchFamily="34" charset="-120"/>
              </a:rPr>
              <a:t>BACKUP</a:t>
            </a:r>
            <a:endParaRPr lang="en-US" sz="1000" dirty="0"/>
          </a:p>
        </p:txBody>
      </p:sp>
      <p:sp>
        <p:nvSpPr>
          <p:cNvPr id="3" name="Text 2"/>
          <p:cNvSpPr/>
          <p:nvPr>
            <p:ph idx="105" type="title" hasCustomPrompt="1"/>
          </p:nvPr>
        </p:nvSpPr>
        <p:spPr>
          <a:xfrm>
            <a:off x="758952" y="1078992"/>
            <a:ext cx="10671048" cy="749808"/>
          </a:xfrm>
          <a:prstGeom prst="rect">
            <a:avLst/>
          </a:prstGeom>
          <a:noFill/>
          <a:ln/>
        </p:spPr>
        <p:txBody>
          <a:bodyPr wrap="square" lIns="0" tIns="0" rIns="0" bIns="0" rtlCol="0" anchor="t"/>
          <a:lstStyle/>
          <a:p>
            <a:pPr algn="l" indent="0" marL="0">
              <a:buNone/>
            </a:pPr>
            <a:r>
              <a:rPr lang="en-US" sz="3200" b="1" dirty="0">
                <a:solidFill>
                  <a:schemeClr val="tx1"/>
                </a:solidFill>
                <a:latin typeface="Chakra Petch" pitchFamily="34" charset="0"/>
                <a:ea typeface="Chakra Petch" pitchFamily="34" charset="-122"/>
                <a:cs typeface="Chakra Petch" pitchFamily="34" charset="-120"/>
              </a:rPr>
              <a:t>What is real and what is modelled</a:t>
            </a:r>
            <a:endParaRPr lang="en-US" sz="3200" dirty="0"/>
          </a:p>
        </p:txBody>
      </p:sp>
      <p:graphicFrame>
        <p:nvGraphicFramePr>
          <p:cNvPr id="16" name="real vs modelled table"/>
          <p:cNvGraphicFramePr>
            <a:graphicFrameLocks noGrp="1"/>
          </p:cNvGraphicFramePr>
          <p:nvPr>
            <p:extLst>
              <p:ext uri="{D42A27DB-BD31-4B8C-83A1-F6EECF244321}">
                <p14:modId xmlns:p14="http://schemas.microsoft.com/office/powerpoint/2010/main" val="1579011935"/>
              </p:ext>
            </p:extLst>
          </p:nvPr>
        </p:nvGraphicFramePr>
        <p:xfrm>
          <a:off x="758952" y="1965960"/>
          <a:ext cx="10671048" cy="914400"/>
        </p:xfrm>
        <a:graphic>
          <a:graphicData uri="http://schemas.openxmlformats.org/drawingml/2006/table">
            <a:tbl>
              <a:tblPr/>
              <a:tblGrid>
                <a:gridCol w="2743200"/>
                <a:gridCol w="4572000"/>
                <a:gridCol w="3355848"/>
              </a:tblGrid>
              <a:tr h="566928">
                <a:tc>
                  <a:txBody>
                    <a:bodyPr/>
                    <a:lstStyle/>
                    <a:p>
                      <a:pPr indent="0" marL="0">
                        <a:buNone/>
                      </a:pPr>
                      <a:r>
                        <a:rPr lang="en-US" sz="1100" b="1" dirty="0">
                          <a:solidFill>
                            <a:schemeClr val="tx1"/>
                          </a:solidFill>
                          <a:latin typeface="IBM Plex Mono" pitchFamily="34" charset="0"/>
                          <a:ea typeface="IBM Plex Mono" pitchFamily="34" charset="-122"/>
                          <a:cs typeface="IBM Plex Mono" pitchFamily="34" charset="-120"/>
                        </a:rPr>
                        <a:t>COMPONENT</a:t>
                      </a:r>
                      <a:endParaRPr lang="en-US" sz="1100" dirty="0">
                        <a:latin typeface="IBM Plex Mono" charset="0"/>
                        <a:ea typeface="IBM Plex Mono" charset="0"/>
                        <a:cs typeface="IBM Plex Mono" charset="0"/>
                      </a:endParaRPr>
                    </a:p>
                  </a:txBody>
                  <a:tcPr marL="73152" marR="73152" marT="73152" marB="73152">
                    <a:lnL w="9525" cap="flat" cmpd="sng" algn="ctr">
                      <a:solidFill>
                        <a:srgbClr val="CFC7B5"/>
                      </a:solidFill>
                      <a:prstDash val="solid"/>
                      <a:round/>
                      <a:headEnd type="none" w="med" len="med"/>
                      <a:tailEnd type="none" w="med" len="med"/>
                    </a:lnL>
                    <a:lnR w="9525" cap="flat" cmpd="sng" algn="ctr">
                      <a:solidFill>
                        <a:srgbClr val="CFC7B5"/>
                      </a:solidFill>
                      <a:prstDash val="solid"/>
                      <a:round/>
                      <a:headEnd type="none" w="med" len="med"/>
                      <a:tailEnd type="none" w="med" len="med"/>
                    </a:lnR>
                    <a:lnT w="9525" cap="flat" cmpd="sng" algn="ctr">
                      <a:solidFill>
                        <a:srgbClr val="CFC7B5"/>
                      </a:solidFill>
                      <a:prstDash val="solid"/>
                      <a:round/>
                      <a:headEnd type="none" w="med" len="med"/>
                      <a:tailEnd type="none" w="med" len="med"/>
                    </a:lnT>
                    <a:lnB w="9525" cap="flat" cmpd="sng" algn="ctr">
                      <a:solidFill>
                        <a:srgbClr val="CFC7B5"/>
                      </a:solidFill>
                      <a:prstDash val="solid"/>
                      <a:round/>
                      <a:headEnd type="none" w="med" len="med"/>
                      <a:tailEnd type="none" w="med" len="med"/>
                    </a:lnB>
                    <a:solidFill>
                      <a:schemeClr val="bg2"/>
                    </a:solidFill>
                  </a:tcPr>
                </a:tc>
                <a:tc>
                  <a:txBody>
                    <a:bodyPr/>
                    <a:lstStyle/>
                    <a:p>
                      <a:pPr indent="0" marL="0">
                        <a:buNone/>
                      </a:pPr>
                      <a:r>
                        <a:rPr lang="en-US" sz="1100" b="1" dirty="0">
                          <a:solidFill>
                            <a:schemeClr val="tx1"/>
                          </a:solidFill>
                          <a:latin typeface="IBM Plex Mono" pitchFamily="34" charset="0"/>
                          <a:ea typeface="IBM Plex Mono" pitchFamily="34" charset="-122"/>
                          <a:cs typeface="IBM Plex Mono" pitchFamily="34" charset="-120"/>
                        </a:rPr>
                        <a:t>STATUS</a:t>
                      </a:r>
                      <a:endParaRPr lang="en-US" sz="1100" dirty="0">
                        <a:latin typeface="IBM Plex Mono" charset="0"/>
                        <a:ea typeface="IBM Plex Mono" charset="0"/>
                        <a:cs typeface="IBM Plex Mono" charset="0"/>
                      </a:endParaRPr>
                    </a:p>
                  </a:txBody>
                  <a:tcPr marL="73152" marR="73152" marT="73152" marB="73152">
                    <a:lnL w="9525" cap="flat" cmpd="sng" algn="ctr">
                      <a:solidFill>
                        <a:srgbClr val="CFC7B5"/>
                      </a:solidFill>
                      <a:prstDash val="solid"/>
                      <a:round/>
                      <a:headEnd type="none" w="med" len="med"/>
                      <a:tailEnd type="none" w="med" len="med"/>
                    </a:lnL>
                    <a:lnR w="9525" cap="flat" cmpd="sng" algn="ctr">
                      <a:solidFill>
                        <a:srgbClr val="CFC7B5"/>
                      </a:solidFill>
                      <a:prstDash val="solid"/>
                      <a:round/>
                      <a:headEnd type="none" w="med" len="med"/>
                      <a:tailEnd type="none" w="med" len="med"/>
                    </a:lnR>
                    <a:lnT w="9525" cap="flat" cmpd="sng" algn="ctr">
                      <a:solidFill>
                        <a:srgbClr val="CFC7B5"/>
                      </a:solidFill>
                      <a:prstDash val="solid"/>
                      <a:round/>
                      <a:headEnd type="none" w="med" len="med"/>
                      <a:tailEnd type="none" w="med" len="med"/>
                    </a:lnT>
                    <a:lnB w="9525" cap="flat" cmpd="sng" algn="ctr">
                      <a:solidFill>
                        <a:srgbClr val="CFC7B5"/>
                      </a:solidFill>
                      <a:prstDash val="solid"/>
                      <a:round/>
                      <a:headEnd type="none" w="med" len="med"/>
                      <a:tailEnd type="none" w="med" len="med"/>
                    </a:lnB>
                    <a:solidFill>
                      <a:schemeClr val="bg2"/>
                    </a:solidFill>
                  </a:tcPr>
                </a:tc>
                <a:tc>
                  <a:txBody>
                    <a:bodyPr/>
                    <a:lstStyle/>
                    <a:p>
                      <a:pPr indent="0" marL="0">
                        <a:buNone/>
                      </a:pPr>
                      <a:r>
                        <a:rPr lang="en-US" sz="1100" b="1" dirty="0">
                          <a:solidFill>
                            <a:schemeClr val="tx1"/>
                          </a:solidFill>
                          <a:latin typeface="IBM Plex Mono" pitchFamily="34" charset="0"/>
                          <a:ea typeface="IBM Plex Mono" pitchFamily="34" charset="-122"/>
                          <a:cs typeface="IBM Plex Mono" pitchFamily="34" charset="-120"/>
                        </a:rPr>
                        <a:t>EVIDENCE</a:t>
                      </a:r>
                      <a:endParaRPr lang="en-US" sz="1100" dirty="0">
                        <a:latin typeface="IBM Plex Mono" charset="0"/>
                        <a:ea typeface="IBM Plex Mono" charset="0"/>
                        <a:cs typeface="IBM Plex Mono" charset="0"/>
                      </a:endParaRPr>
                    </a:p>
                  </a:txBody>
                  <a:tcPr marL="73152" marR="73152" marT="73152" marB="73152">
                    <a:lnL w="9525" cap="flat" cmpd="sng" algn="ctr">
                      <a:solidFill>
                        <a:srgbClr val="CFC7B5"/>
                      </a:solidFill>
                      <a:prstDash val="solid"/>
                      <a:round/>
                      <a:headEnd type="none" w="med" len="med"/>
                      <a:tailEnd type="none" w="med" len="med"/>
                    </a:lnL>
                    <a:lnR w="9525" cap="flat" cmpd="sng" algn="ctr">
                      <a:solidFill>
                        <a:srgbClr val="CFC7B5"/>
                      </a:solidFill>
                      <a:prstDash val="solid"/>
                      <a:round/>
                      <a:headEnd type="none" w="med" len="med"/>
                      <a:tailEnd type="none" w="med" len="med"/>
                    </a:lnR>
                    <a:lnT w="9525" cap="flat" cmpd="sng" algn="ctr">
                      <a:solidFill>
                        <a:srgbClr val="CFC7B5"/>
                      </a:solidFill>
                      <a:prstDash val="solid"/>
                      <a:round/>
                      <a:headEnd type="none" w="med" len="med"/>
                      <a:tailEnd type="none" w="med" len="med"/>
                    </a:lnT>
                    <a:lnB w="9525" cap="flat" cmpd="sng" algn="ctr">
                      <a:solidFill>
                        <a:srgbClr val="CFC7B5"/>
                      </a:solidFill>
                      <a:prstDash val="solid"/>
                      <a:round/>
                      <a:headEnd type="none" w="med" len="med"/>
                      <a:tailEnd type="none" w="med" len="med"/>
                    </a:lnB>
                    <a:solidFill>
                      <a:schemeClr val="bg2"/>
                    </a:solidFill>
                  </a:tcPr>
                </a:tc>
              </a:tr>
              <a:tr h="566928">
                <a:tc>
                  <a:txBody>
                    <a:bodyPr/>
                    <a:lstStyle/>
                    <a:p>
                      <a:pPr indent="0" marL="0">
                        <a:buNone/>
                      </a:pPr>
                      <a:r>
                        <a:rPr lang="en-US" sz="1300" dirty="0">
                          <a:solidFill>
                            <a:schemeClr val="tx1"/>
                          </a:solidFill>
                        </a:rPr>
                        <a:t>Quantum sensor (QTFM)</a:t>
                      </a:r>
                      <a:endParaRPr lang="en-US" sz="1300" dirty="0"/>
                    </a:p>
                  </a:txBody>
                  <a:tcPr marL="73152" marR="73152" marT="73152" marB="73152">
                    <a:lnL w="9525" cap="flat" cmpd="sng" algn="ctr">
                      <a:solidFill>
                        <a:srgbClr val="CFC7B5"/>
                      </a:solidFill>
                      <a:prstDash val="solid"/>
                      <a:round/>
                      <a:headEnd type="none" w="med" len="med"/>
                      <a:tailEnd type="none" w="med" len="med"/>
                    </a:lnL>
                    <a:lnR w="9525" cap="flat" cmpd="sng" algn="ctr">
                      <a:solidFill>
                        <a:srgbClr val="CFC7B5"/>
                      </a:solidFill>
                      <a:prstDash val="solid"/>
                      <a:round/>
                      <a:headEnd type="none" w="med" len="med"/>
                      <a:tailEnd type="none" w="med" len="med"/>
                    </a:lnR>
                    <a:lnT w="9525" cap="flat" cmpd="sng" algn="ctr">
                      <a:solidFill>
                        <a:srgbClr val="CFC7B5"/>
                      </a:solidFill>
                      <a:prstDash val="solid"/>
                      <a:round/>
                      <a:headEnd type="none" w="med" len="med"/>
                      <a:tailEnd type="none" w="med" len="med"/>
                    </a:lnT>
                    <a:lnB w="9525" cap="flat" cmpd="sng" algn="ctr">
                      <a:solidFill>
                        <a:srgbClr val="CFC7B5"/>
                      </a:solidFill>
                      <a:prstDash val="solid"/>
                      <a:round/>
                      <a:headEnd type="none" w="med" len="med"/>
                      <a:tailEnd type="none" w="med" len="med"/>
                    </a:lnB>
                    <a:solidFill>
                      <a:srgbClr val="ECE6D8"/>
                    </a:solidFill>
                  </a:tcPr>
                </a:tc>
                <a:tc>
                  <a:txBody>
                    <a:bodyPr/>
                    <a:lstStyle/>
                    <a:p>
                      <a:pPr indent="0" marL="0">
                        <a:buNone/>
                      </a:pPr>
                      <a:r>
                        <a:rPr lang="en-US" sz="1300" dirty="0">
                          <a:solidFill>
                            <a:schemeClr val="tx1"/>
                          </a:solidFill>
                        </a:rPr>
                        <a:t>Real flight data; emulated on our drone until we have a unit</a:t>
                      </a:r>
                      <a:endParaRPr lang="en-US" sz="1300" dirty="0"/>
                    </a:p>
                  </a:txBody>
                  <a:tcPr marL="73152" marR="73152" marT="73152" marB="73152">
                    <a:lnL w="9525" cap="flat" cmpd="sng" algn="ctr">
                      <a:solidFill>
                        <a:srgbClr val="CFC7B5"/>
                      </a:solidFill>
                      <a:prstDash val="solid"/>
                      <a:round/>
                      <a:headEnd type="none" w="med" len="med"/>
                      <a:tailEnd type="none" w="med" len="med"/>
                    </a:lnL>
                    <a:lnR w="9525" cap="flat" cmpd="sng" algn="ctr">
                      <a:solidFill>
                        <a:srgbClr val="CFC7B5"/>
                      </a:solidFill>
                      <a:prstDash val="solid"/>
                      <a:round/>
                      <a:headEnd type="none" w="med" len="med"/>
                      <a:tailEnd type="none" w="med" len="med"/>
                    </a:lnR>
                    <a:lnT w="9525" cap="flat" cmpd="sng" algn="ctr">
                      <a:solidFill>
                        <a:srgbClr val="CFC7B5"/>
                      </a:solidFill>
                      <a:prstDash val="solid"/>
                      <a:round/>
                      <a:headEnd type="none" w="med" len="med"/>
                      <a:tailEnd type="none" w="med" len="med"/>
                    </a:lnT>
                    <a:lnB w="9525" cap="flat" cmpd="sng" algn="ctr">
                      <a:solidFill>
                        <a:srgbClr val="CFC7B5"/>
                      </a:solidFill>
                      <a:prstDash val="solid"/>
                      <a:round/>
                      <a:headEnd type="none" w="med" len="med"/>
                      <a:tailEnd type="none" w="med" len="med"/>
                    </a:lnB>
                    <a:solidFill>
                      <a:srgbClr val="ECE6D8"/>
                    </a:solidFill>
                  </a:tcPr>
                </a:tc>
                <a:tc>
                  <a:txBody>
                    <a:bodyPr/>
                    <a:lstStyle/>
                    <a:p>
                      <a:pPr indent="0" marL="0">
                        <a:buNone/>
                      </a:pPr>
                      <a:r>
                        <a:rPr lang="en-US" sz="1300" dirty="0">
                          <a:solidFill>
                            <a:schemeClr val="tx1"/>
                          </a:solidFill>
                        </a:rPr>
                        <a:t>QuSpin logs, notebooks/quspin, dynamic</a:t>
                      </a:r>
                      <a:endParaRPr lang="en-US" sz="1300" dirty="0"/>
                    </a:p>
                  </a:txBody>
                  <a:tcPr marL="73152" marR="73152" marT="73152" marB="73152">
                    <a:lnL w="9525" cap="flat" cmpd="sng" algn="ctr">
                      <a:solidFill>
                        <a:srgbClr val="CFC7B5"/>
                      </a:solidFill>
                      <a:prstDash val="solid"/>
                      <a:round/>
                      <a:headEnd type="none" w="med" len="med"/>
                      <a:tailEnd type="none" w="med" len="med"/>
                    </a:lnL>
                    <a:lnR w="9525" cap="flat" cmpd="sng" algn="ctr">
                      <a:solidFill>
                        <a:srgbClr val="CFC7B5"/>
                      </a:solidFill>
                      <a:prstDash val="solid"/>
                      <a:round/>
                      <a:headEnd type="none" w="med" len="med"/>
                      <a:tailEnd type="none" w="med" len="med"/>
                    </a:lnR>
                    <a:lnT w="9525" cap="flat" cmpd="sng" algn="ctr">
                      <a:solidFill>
                        <a:srgbClr val="CFC7B5"/>
                      </a:solidFill>
                      <a:prstDash val="solid"/>
                      <a:round/>
                      <a:headEnd type="none" w="med" len="med"/>
                      <a:tailEnd type="none" w="med" len="med"/>
                    </a:lnT>
                    <a:lnB w="9525" cap="flat" cmpd="sng" algn="ctr">
                      <a:solidFill>
                        <a:srgbClr val="CFC7B5"/>
                      </a:solidFill>
                      <a:prstDash val="solid"/>
                      <a:round/>
                      <a:headEnd type="none" w="med" len="med"/>
                      <a:tailEnd type="none" w="med" len="med"/>
                    </a:lnB>
                    <a:solidFill>
                      <a:srgbClr val="ECE6D8"/>
                    </a:solidFill>
                  </a:tcPr>
                </a:tc>
              </a:tr>
              <a:tr h="566928">
                <a:tc>
                  <a:txBody>
                    <a:bodyPr/>
                    <a:lstStyle/>
                    <a:p>
                      <a:pPr indent="0" marL="0">
                        <a:buNone/>
                      </a:pPr>
                      <a:r>
                        <a:rPr lang="en-US" sz="1300" dirty="0">
                          <a:solidFill>
                            <a:schemeClr val="tx1"/>
                          </a:solidFill>
                        </a:rPr>
                        <a:t>Drone, IMU, RM3100</a:t>
                      </a:r>
                      <a:endParaRPr lang="en-US" sz="1300" dirty="0"/>
                    </a:p>
                  </a:txBody>
                  <a:tcPr marL="73152" marR="73152" marT="73152" marB="73152">
                    <a:lnL w="9525" cap="flat" cmpd="sng" algn="ctr">
                      <a:solidFill>
                        <a:srgbClr val="CFC7B5"/>
                      </a:solidFill>
                      <a:prstDash val="solid"/>
                      <a:round/>
                      <a:headEnd type="none" w="med" len="med"/>
                      <a:tailEnd type="none" w="med" len="med"/>
                    </a:lnL>
                    <a:lnR w="9525" cap="flat" cmpd="sng" algn="ctr">
                      <a:solidFill>
                        <a:srgbClr val="CFC7B5"/>
                      </a:solidFill>
                      <a:prstDash val="solid"/>
                      <a:round/>
                      <a:headEnd type="none" w="med" len="med"/>
                      <a:tailEnd type="none" w="med" len="med"/>
                    </a:lnR>
                    <a:lnT w="9525" cap="flat" cmpd="sng" algn="ctr">
                      <a:solidFill>
                        <a:srgbClr val="CFC7B5"/>
                      </a:solidFill>
                      <a:prstDash val="solid"/>
                      <a:round/>
                      <a:headEnd type="none" w="med" len="med"/>
                      <a:tailEnd type="none" w="med" len="med"/>
                    </a:lnT>
                    <a:lnB w="9525" cap="flat" cmpd="sng" algn="ctr">
                      <a:solidFill>
                        <a:srgbClr val="CFC7B5"/>
                      </a:solidFill>
                      <a:prstDash val="solid"/>
                      <a:round/>
                      <a:headEnd type="none" w="med" len="med"/>
                      <a:tailEnd type="none" w="med" len="med"/>
                    </a:lnB>
                    <a:solidFill>
                      <a:srgbClr val="ECE6D8"/>
                    </a:solidFill>
                  </a:tcPr>
                </a:tc>
                <a:tc>
                  <a:txBody>
                    <a:bodyPr/>
                    <a:lstStyle/>
                    <a:p>
                      <a:pPr indent="0" marL="0">
                        <a:buNone/>
                      </a:pPr>
                      <a:r>
                        <a:rPr lang="en-US" sz="1300" dirty="0">
                          <a:solidFill>
                            <a:schemeClr val="tx1"/>
                          </a:solidFill>
                        </a:rPr>
                        <a:t>Real hardware, flown with DroneCAN logging</a:t>
                      </a:r>
                      <a:endParaRPr lang="en-US" sz="1300" dirty="0"/>
                    </a:p>
                  </a:txBody>
                  <a:tcPr marL="73152" marR="73152" marT="73152" marB="73152">
                    <a:lnL w="9525" cap="flat" cmpd="sng" algn="ctr">
                      <a:solidFill>
                        <a:srgbClr val="CFC7B5"/>
                      </a:solidFill>
                      <a:prstDash val="solid"/>
                      <a:round/>
                      <a:headEnd type="none" w="med" len="med"/>
                      <a:tailEnd type="none" w="med" len="med"/>
                    </a:lnL>
                    <a:lnR w="9525" cap="flat" cmpd="sng" algn="ctr">
                      <a:solidFill>
                        <a:srgbClr val="CFC7B5"/>
                      </a:solidFill>
                      <a:prstDash val="solid"/>
                      <a:round/>
                      <a:headEnd type="none" w="med" len="med"/>
                      <a:tailEnd type="none" w="med" len="med"/>
                    </a:lnR>
                    <a:lnT w="9525" cap="flat" cmpd="sng" algn="ctr">
                      <a:solidFill>
                        <a:srgbClr val="CFC7B5"/>
                      </a:solidFill>
                      <a:prstDash val="solid"/>
                      <a:round/>
                      <a:headEnd type="none" w="med" len="med"/>
                      <a:tailEnd type="none" w="med" len="med"/>
                    </a:lnT>
                    <a:lnB w="9525" cap="flat" cmpd="sng" algn="ctr">
                      <a:solidFill>
                        <a:srgbClr val="CFC7B5"/>
                      </a:solidFill>
                      <a:prstDash val="solid"/>
                      <a:round/>
                      <a:headEnd type="none" w="med" len="med"/>
                      <a:tailEnd type="none" w="med" len="med"/>
                    </a:lnB>
                    <a:solidFill>
                      <a:srgbClr val="ECE6D8"/>
                    </a:solidFill>
                  </a:tcPr>
                </a:tc>
                <a:tc>
                  <a:txBody>
                    <a:bodyPr/>
                    <a:lstStyle/>
                    <a:p>
                      <a:pPr indent="0" marL="0">
                        <a:buNone/>
                      </a:pPr>
                      <a:r>
                        <a:rPr lang="en-US" sz="1300" dirty="0">
                          <a:solidFill>
                            <a:schemeClr val="tx1"/>
                          </a:solidFill>
                        </a:rPr>
                        <a:t>hardware/drone_files/logs</a:t>
                      </a:r>
                      <a:endParaRPr lang="en-US" sz="1300" dirty="0"/>
                    </a:p>
                  </a:txBody>
                  <a:tcPr marL="73152" marR="73152" marT="73152" marB="73152">
                    <a:lnL w="9525" cap="flat" cmpd="sng" algn="ctr">
                      <a:solidFill>
                        <a:srgbClr val="CFC7B5"/>
                      </a:solidFill>
                      <a:prstDash val="solid"/>
                      <a:round/>
                      <a:headEnd type="none" w="med" len="med"/>
                      <a:tailEnd type="none" w="med" len="med"/>
                    </a:lnL>
                    <a:lnR w="9525" cap="flat" cmpd="sng" algn="ctr">
                      <a:solidFill>
                        <a:srgbClr val="CFC7B5"/>
                      </a:solidFill>
                      <a:prstDash val="solid"/>
                      <a:round/>
                      <a:headEnd type="none" w="med" len="med"/>
                      <a:tailEnd type="none" w="med" len="med"/>
                    </a:lnR>
                    <a:lnT w="9525" cap="flat" cmpd="sng" algn="ctr">
                      <a:solidFill>
                        <a:srgbClr val="CFC7B5"/>
                      </a:solidFill>
                      <a:prstDash val="solid"/>
                      <a:round/>
                      <a:headEnd type="none" w="med" len="med"/>
                      <a:tailEnd type="none" w="med" len="med"/>
                    </a:lnT>
                    <a:lnB w="9525" cap="flat" cmpd="sng" algn="ctr">
                      <a:solidFill>
                        <a:srgbClr val="CFC7B5"/>
                      </a:solidFill>
                      <a:prstDash val="solid"/>
                      <a:round/>
                      <a:headEnd type="none" w="med" len="med"/>
                      <a:tailEnd type="none" w="med" len="med"/>
                    </a:lnB>
                    <a:solidFill>
                      <a:srgbClr val="ECE6D8"/>
                    </a:solidFill>
                  </a:tcPr>
                </a:tc>
              </a:tr>
              <a:tr h="566928">
                <a:tc>
                  <a:txBody>
                    <a:bodyPr/>
                    <a:lstStyle/>
                    <a:p>
                      <a:pPr indent="0" marL="0">
                        <a:buNone/>
                      </a:pPr>
                      <a:r>
                        <a:rPr lang="en-US" sz="1300" dirty="0">
                          <a:solidFill>
                            <a:schemeClr val="tx1"/>
                          </a:solidFill>
                        </a:rPr>
                        <a:t>Tellus magnetic map</a:t>
                      </a:r>
                      <a:endParaRPr lang="en-US" sz="1300" dirty="0"/>
                    </a:p>
                  </a:txBody>
                  <a:tcPr marL="73152" marR="73152" marT="73152" marB="73152">
                    <a:lnL w="9525" cap="flat" cmpd="sng" algn="ctr">
                      <a:solidFill>
                        <a:srgbClr val="CFC7B5"/>
                      </a:solidFill>
                      <a:prstDash val="solid"/>
                      <a:round/>
                      <a:headEnd type="none" w="med" len="med"/>
                      <a:tailEnd type="none" w="med" len="med"/>
                    </a:lnL>
                    <a:lnR w="9525" cap="flat" cmpd="sng" algn="ctr">
                      <a:solidFill>
                        <a:srgbClr val="CFC7B5"/>
                      </a:solidFill>
                      <a:prstDash val="solid"/>
                      <a:round/>
                      <a:headEnd type="none" w="med" len="med"/>
                      <a:tailEnd type="none" w="med" len="med"/>
                    </a:lnR>
                    <a:lnT w="9525" cap="flat" cmpd="sng" algn="ctr">
                      <a:solidFill>
                        <a:srgbClr val="CFC7B5"/>
                      </a:solidFill>
                      <a:prstDash val="solid"/>
                      <a:round/>
                      <a:headEnd type="none" w="med" len="med"/>
                      <a:tailEnd type="none" w="med" len="med"/>
                    </a:lnT>
                    <a:lnB w="9525" cap="flat" cmpd="sng" algn="ctr">
                      <a:solidFill>
                        <a:srgbClr val="CFC7B5"/>
                      </a:solidFill>
                      <a:prstDash val="solid"/>
                      <a:round/>
                      <a:headEnd type="none" w="med" len="med"/>
                      <a:tailEnd type="none" w="med" len="med"/>
                    </a:lnB>
                    <a:solidFill>
                      <a:srgbClr val="ECE6D8"/>
                    </a:solidFill>
                  </a:tcPr>
                </a:tc>
                <a:tc>
                  <a:txBody>
                    <a:bodyPr/>
                    <a:lstStyle/>
                    <a:p>
                      <a:pPr indent="0" marL="0">
                        <a:buNone/>
                      </a:pPr>
                      <a:r>
                        <a:rPr lang="en-US" sz="1300" dirty="0">
                          <a:solidFill>
                            <a:schemeClr val="tx1"/>
                          </a:solidFill>
                        </a:rPr>
                        <a:t>Real national data (GSI, CC BY 4.0)</a:t>
                      </a:r>
                      <a:endParaRPr lang="en-US" sz="1300" dirty="0"/>
                    </a:p>
                  </a:txBody>
                  <a:tcPr marL="73152" marR="73152" marT="73152" marB="73152">
                    <a:lnL w="9525" cap="flat" cmpd="sng" algn="ctr">
                      <a:solidFill>
                        <a:srgbClr val="CFC7B5"/>
                      </a:solidFill>
                      <a:prstDash val="solid"/>
                      <a:round/>
                      <a:headEnd type="none" w="med" len="med"/>
                      <a:tailEnd type="none" w="med" len="med"/>
                    </a:lnL>
                    <a:lnR w="9525" cap="flat" cmpd="sng" algn="ctr">
                      <a:solidFill>
                        <a:srgbClr val="CFC7B5"/>
                      </a:solidFill>
                      <a:prstDash val="solid"/>
                      <a:round/>
                      <a:headEnd type="none" w="med" len="med"/>
                      <a:tailEnd type="none" w="med" len="med"/>
                    </a:lnR>
                    <a:lnT w="9525" cap="flat" cmpd="sng" algn="ctr">
                      <a:solidFill>
                        <a:srgbClr val="CFC7B5"/>
                      </a:solidFill>
                      <a:prstDash val="solid"/>
                      <a:round/>
                      <a:headEnd type="none" w="med" len="med"/>
                      <a:tailEnd type="none" w="med" len="med"/>
                    </a:lnT>
                    <a:lnB w="9525" cap="flat" cmpd="sng" algn="ctr">
                      <a:solidFill>
                        <a:srgbClr val="CFC7B5"/>
                      </a:solidFill>
                      <a:prstDash val="solid"/>
                      <a:round/>
                      <a:headEnd type="none" w="med" len="med"/>
                      <a:tailEnd type="none" w="med" len="med"/>
                    </a:lnB>
                    <a:solidFill>
                      <a:srgbClr val="ECE6D8"/>
                    </a:solidFill>
                  </a:tcPr>
                </a:tc>
                <a:tc>
                  <a:txBody>
                    <a:bodyPr/>
                    <a:lstStyle/>
                    <a:p>
                      <a:pPr indent="0" marL="0">
                        <a:buNone/>
                      </a:pPr>
                      <a:r>
                        <a:rPr lang="en-US" sz="1300" dirty="0">
                          <a:solidFill>
                            <a:schemeClr val="tx1"/>
                          </a:solidFill>
                        </a:rPr>
                        <a:t>Block A7, merge_tmi</a:t>
                      </a:r>
                      <a:endParaRPr lang="en-US" sz="1300" dirty="0"/>
                    </a:p>
                  </a:txBody>
                  <a:tcPr marL="73152" marR="73152" marT="73152" marB="73152">
                    <a:lnL w="9525" cap="flat" cmpd="sng" algn="ctr">
                      <a:solidFill>
                        <a:srgbClr val="CFC7B5"/>
                      </a:solidFill>
                      <a:prstDash val="solid"/>
                      <a:round/>
                      <a:headEnd type="none" w="med" len="med"/>
                      <a:tailEnd type="none" w="med" len="med"/>
                    </a:lnL>
                    <a:lnR w="9525" cap="flat" cmpd="sng" algn="ctr">
                      <a:solidFill>
                        <a:srgbClr val="CFC7B5"/>
                      </a:solidFill>
                      <a:prstDash val="solid"/>
                      <a:round/>
                      <a:headEnd type="none" w="med" len="med"/>
                      <a:tailEnd type="none" w="med" len="med"/>
                    </a:lnR>
                    <a:lnT w="9525" cap="flat" cmpd="sng" algn="ctr">
                      <a:solidFill>
                        <a:srgbClr val="CFC7B5"/>
                      </a:solidFill>
                      <a:prstDash val="solid"/>
                      <a:round/>
                      <a:headEnd type="none" w="med" len="med"/>
                      <a:tailEnd type="none" w="med" len="med"/>
                    </a:lnT>
                    <a:lnB w="9525" cap="flat" cmpd="sng" algn="ctr">
                      <a:solidFill>
                        <a:srgbClr val="CFC7B5"/>
                      </a:solidFill>
                      <a:prstDash val="solid"/>
                      <a:round/>
                      <a:headEnd type="none" w="med" len="med"/>
                      <a:tailEnd type="none" w="med" len="med"/>
                    </a:lnB>
                    <a:solidFill>
                      <a:srgbClr val="ECE6D8"/>
                    </a:solidFill>
                  </a:tcPr>
                </a:tc>
              </a:tr>
              <a:tr h="566928">
                <a:tc>
                  <a:txBody>
                    <a:bodyPr/>
                    <a:lstStyle/>
                    <a:p>
                      <a:pPr indent="0" marL="0">
                        <a:buNone/>
                      </a:pPr>
                      <a:r>
                        <a:rPr lang="en-US" sz="1300" dirty="0">
                          <a:solidFill>
                            <a:schemeClr val="tx1"/>
                          </a:solidFill>
                        </a:rPr>
                        <a:t>Particle filter</a:t>
                      </a:r>
                      <a:endParaRPr lang="en-US" sz="1300" dirty="0"/>
                    </a:p>
                  </a:txBody>
                  <a:tcPr marL="73152" marR="73152" marT="73152" marB="73152">
                    <a:lnL w="9525" cap="flat" cmpd="sng" algn="ctr">
                      <a:solidFill>
                        <a:srgbClr val="CFC7B5"/>
                      </a:solidFill>
                      <a:prstDash val="solid"/>
                      <a:round/>
                      <a:headEnd type="none" w="med" len="med"/>
                      <a:tailEnd type="none" w="med" len="med"/>
                    </a:lnL>
                    <a:lnR w="9525" cap="flat" cmpd="sng" algn="ctr">
                      <a:solidFill>
                        <a:srgbClr val="CFC7B5"/>
                      </a:solidFill>
                      <a:prstDash val="solid"/>
                      <a:round/>
                      <a:headEnd type="none" w="med" len="med"/>
                      <a:tailEnd type="none" w="med" len="med"/>
                    </a:lnR>
                    <a:lnT w="9525" cap="flat" cmpd="sng" algn="ctr">
                      <a:solidFill>
                        <a:srgbClr val="CFC7B5"/>
                      </a:solidFill>
                      <a:prstDash val="solid"/>
                      <a:round/>
                      <a:headEnd type="none" w="med" len="med"/>
                      <a:tailEnd type="none" w="med" len="med"/>
                    </a:lnT>
                    <a:lnB w="9525" cap="flat" cmpd="sng" algn="ctr">
                      <a:solidFill>
                        <a:srgbClr val="CFC7B5"/>
                      </a:solidFill>
                      <a:prstDash val="solid"/>
                      <a:round/>
                      <a:headEnd type="none" w="med" len="med"/>
                      <a:tailEnd type="none" w="med" len="med"/>
                    </a:lnB>
                    <a:solidFill>
                      <a:srgbClr val="ECE6D8"/>
                    </a:solidFill>
                  </a:tcPr>
                </a:tc>
                <a:tc>
                  <a:txBody>
                    <a:bodyPr/>
                    <a:lstStyle/>
                    <a:p>
                      <a:pPr indent="0" marL="0">
                        <a:buNone/>
                      </a:pPr>
                      <a:r>
                        <a:rPr lang="en-US" sz="1300" dirty="0">
                          <a:solidFill>
                            <a:schemeClr val="tx1"/>
                          </a:solidFill>
                        </a:rPr>
                        <a:t>Built this weekend; tested on simulated and real data</a:t>
                      </a:r>
                      <a:endParaRPr lang="en-US" sz="1300" dirty="0"/>
                    </a:p>
                  </a:txBody>
                  <a:tcPr marL="73152" marR="73152" marT="73152" marB="73152">
                    <a:lnL w="9525" cap="flat" cmpd="sng" algn="ctr">
                      <a:solidFill>
                        <a:srgbClr val="CFC7B5"/>
                      </a:solidFill>
                      <a:prstDash val="solid"/>
                      <a:round/>
                      <a:headEnd type="none" w="med" len="med"/>
                      <a:tailEnd type="none" w="med" len="med"/>
                    </a:lnL>
                    <a:lnR w="9525" cap="flat" cmpd="sng" algn="ctr">
                      <a:solidFill>
                        <a:srgbClr val="CFC7B5"/>
                      </a:solidFill>
                      <a:prstDash val="solid"/>
                      <a:round/>
                      <a:headEnd type="none" w="med" len="med"/>
                      <a:tailEnd type="none" w="med" len="med"/>
                    </a:lnR>
                    <a:lnT w="9525" cap="flat" cmpd="sng" algn="ctr">
                      <a:solidFill>
                        <a:srgbClr val="CFC7B5"/>
                      </a:solidFill>
                      <a:prstDash val="solid"/>
                      <a:round/>
                      <a:headEnd type="none" w="med" len="med"/>
                      <a:tailEnd type="none" w="med" len="med"/>
                    </a:lnT>
                    <a:lnB w="9525" cap="flat" cmpd="sng" algn="ctr">
                      <a:solidFill>
                        <a:srgbClr val="CFC7B5"/>
                      </a:solidFill>
                      <a:prstDash val="solid"/>
                      <a:round/>
                      <a:headEnd type="none" w="med" len="med"/>
                      <a:tailEnd type="none" w="med" len="med"/>
                    </a:lnB>
                    <a:solidFill>
                      <a:srgbClr val="ECE6D8"/>
                    </a:solidFill>
                  </a:tcPr>
                </a:tc>
                <a:tc>
                  <a:txBody>
                    <a:bodyPr/>
                    <a:lstStyle/>
                    <a:p>
                      <a:pPr indent="0" marL="0">
                        <a:buNone/>
                      </a:pPr>
                      <a:r>
                        <a:rPr lang="en-US" sz="1300" dirty="0">
                          <a:solidFill>
                            <a:schemeClr val="tx1"/>
                          </a:solidFill>
                        </a:rPr>
                        <a:t>modelling/src/navfilter, tests</a:t>
                      </a:r>
                      <a:endParaRPr lang="en-US" sz="1300" dirty="0"/>
                    </a:p>
                  </a:txBody>
                  <a:tcPr marL="73152" marR="73152" marT="73152" marB="73152">
                    <a:lnL w="9525" cap="flat" cmpd="sng" algn="ctr">
                      <a:solidFill>
                        <a:srgbClr val="CFC7B5"/>
                      </a:solidFill>
                      <a:prstDash val="solid"/>
                      <a:round/>
                      <a:headEnd type="none" w="med" len="med"/>
                      <a:tailEnd type="none" w="med" len="med"/>
                    </a:lnL>
                    <a:lnR w="9525" cap="flat" cmpd="sng" algn="ctr">
                      <a:solidFill>
                        <a:srgbClr val="CFC7B5"/>
                      </a:solidFill>
                      <a:prstDash val="solid"/>
                      <a:round/>
                      <a:headEnd type="none" w="med" len="med"/>
                      <a:tailEnd type="none" w="med" len="med"/>
                    </a:lnR>
                    <a:lnT w="9525" cap="flat" cmpd="sng" algn="ctr">
                      <a:solidFill>
                        <a:srgbClr val="CFC7B5"/>
                      </a:solidFill>
                      <a:prstDash val="solid"/>
                      <a:round/>
                      <a:headEnd type="none" w="med" len="med"/>
                      <a:tailEnd type="none" w="med" len="med"/>
                    </a:lnT>
                    <a:lnB w="9525" cap="flat" cmpd="sng" algn="ctr">
                      <a:solidFill>
                        <a:srgbClr val="CFC7B5"/>
                      </a:solidFill>
                      <a:prstDash val="solid"/>
                      <a:round/>
                      <a:headEnd type="none" w="med" len="med"/>
                      <a:tailEnd type="none" w="med" len="med"/>
                    </a:lnB>
                    <a:solidFill>
                      <a:srgbClr val="ECE6D8"/>
                    </a:solidFill>
                  </a:tcPr>
                </a:tc>
              </a:tr>
              <a:tr h="566928">
                <a:tc>
                  <a:txBody>
                    <a:bodyPr/>
                    <a:lstStyle/>
                    <a:p>
                      <a:pPr indent="0" marL="0">
                        <a:buNone/>
                      </a:pPr>
                      <a:r>
                        <a:rPr lang="en-US" sz="1300" dirty="0">
                          <a:solidFill>
                            <a:schemeClr val="tx1"/>
                          </a:solidFill>
                        </a:rPr>
                        <a:t>Platform interference</a:t>
                      </a:r>
                      <a:endParaRPr lang="en-US" sz="1300" dirty="0"/>
                    </a:p>
                  </a:txBody>
                  <a:tcPr marL="73152" marR="73152" marT="73152" marB="73152">
                    <a:lnL w="9525" cap="flat" cmpd="sng" algn="ctr">
                      <a:solidFill>
                        <a:srgbClr val="CFC7B5"/>
                      </a:solidFill>
                      <a:prstDash val="solid"/>
                      <a:round/>
                      <a:headEnd type="none" w="med" len="med"/>
                      <a:tailEnd type="none" w="med" len="med"/>
                    </a:lnL>
                    <a:lnR w="9525" cap="flat" cmpd="sng" algn="ctr">
                      <a:solidFill>
                        <a:srgbClr val="CFC7B5"/>
                      </a:solidFill>
                      <a:prstDash val="solid"/>
                      <a:round/>
                      <a:headEnd type="none" w="med" len="med"/>
                      <a:tailEnd type="none" w="med" len="med"/>
                    </a:lnR>
                    <a:lnT w="9525" cap="flat" cmpd="sng" algn="ctr">
                      <a:solidFill>
                        <a:srgbClr val="CFC7B5"/>
                      </a:solidFill>
                      <a:prstDash val="solid"/>
                      <a:round/>
                      <a:headEnd type="none" w="med" len="med"/>
                      <a:tailEnd type="none" w="med" len="med"/>
                    </a:lnT>
                    <a:lnB w="9525" cap="flat" cmpd="sng" algn="ctr">
                      <a:solidFill>
                        <a:srgbClr val="CFC7B5"/>
                      </a:solidFill>
                      <a:prstDash val="solid"/>
                      <a:round/>
                      <a:headEnd type="none" w="med" len="med"/>
                      <a:tailEnd type="none" w="med" len="med"/>
                    </a:lnB>
                    <a:solidFill>
                      <a:srgbClr val="ECE6D8"/>
                    </a:solidFill>
                  </a:tcPr>
                </a:tc>
                <a:tc>
                  <a:txBody>
                    <a:bodyPr/>
                    <a:lstStyle/>
                    <a:p>
                      <a:pPr indent="0" marL="0">
                        <a:buNone/>
                      </a:pPr>
                      <a:r>
                        <a:rPr lang="en-US" sz="1300" dirty="0">
                          <a:solidFill>
                            <a:schemeClr val="tx1"/>
                          </a:solidFill>
                        </a:rPr>
                        <a:t>Bench-measured on our X500, then compensated</a:t>
                      </a:r>
                      <a:endParaRPr lang="en-US" sz="1300" dirty="0"/>
                    </a:p>
                  </a:txBody>
                  <a:tcPr marL="73152" marR="73152" marT="73152" marB="73152">
                    <a:lnL w="9525" cap="flat" cmpd="sng" algn="ctr">
                      <a:solidFill>
                        <a:srgbClr val="CFC7B5"/>
                      </a:solidFill>
                      <a:prstDash val="solid"/>
                      <a:round/>
                      <a:headEnd type="none" w="med" len="med"/>
                      <a:tailEnd type="none" w="med" len="med"/>
                    </a:lnL>
                    <a:lnR w="9525" cap="flat" cmpd="sng" algn="ctr">
                      <a:solidFill>
                        <a:srgbClr val="CFC7B5"/>
                      </a:solidFill>
                      <a:prstDash val="solid"/>
                      <a:round/>
                      <a:headEnd type="none" w="med" len="med"/>
                      <a:tailEnd type="none" w="med" len="med"/>
                    </a:lnR>
                    <a:lnT w="9525" cap="flat" cmpd="sng" algn="ctr">
                      <a:solidFill>
                        <a:srgbClr val="CFC7B5"/>
                      </a:solidFill>
                      <a:prstDash val="solid"/>
                      <a:round/>
                      <a:headEnd type="none" w="med" len="med"/>
                      <a:tailEnd type="none" w="med" len="med"/>
                    </a:lnT>
                    <a:lnB w="9525" cap="flat" cmpd="sng" algn="ctr">
                      <a:solidFill>
                        <a:srgbClr val="CFC7B5"/>
                      </a:solidFill>
                      <a:prstDash val="solid"/>
                      <a:round/>
                      <a:headEnd type="none" w="med" len="med"/>
                      <a:tailEnd type="none" w="med" len="med"/>
                    </a:lnB>
                    <a:solidFill>
                      <a:srgbClr val="ECE6D8"/>
                    </a:solidFill>
                  </a:tcPr>
                </a:tc>
                <a:tc>
                  <a:txBody>
                    <a:bodyPr/>
                    <a:lstStyle/>
                    <a:p>
                      <a:pPr indent="0" marL="0">
                        <a:buNone/>
                      </a:pPr>
                      <a:r>
                        <a:rPr lang="en-US" sz="1300" dirty="0">
                          <a:solidFill>
                            <a:schemeClr val="tx1"/>
                          </a:solidFill>
                        </a:rPr>
                        <a:t>Sweeps A, B, C</a:t>
                      </a:r>
                      <a:endParaRPr lang="en-US" sz="1300" dirty="0"/>
                    </a:p>
                  </a:txBody>
                  <a:tcPr marL="73152" marR="73152" marT="73152" marB="73152">
                    <a:lnL w="9525" cap="flat" cmpd="sng" algn="ctr">
                      <a:solidFill>
                        <a:srgbClr val="CFC7B5"/>
                      </a:solidFill>
                      <a:prstDash val="solid"/>
                      <a:round/>
                      <a:headEnd type="none" w="med" len="med"/>
                      <a:tailEnd type="none" w="med" len="med"/>
                    </a:lnL>
                    <a:lnR w="9525" cap="flat" cmpd="sng" algn="ctr">
                      <a:solidFill>
                        <a:srgbClr val="CFC7B5"/>
                      </a:solidFill>
                      <a:prstDash val="solid"/>
                      <a:round/>
                      <a:headEnd type="none" w="med" len="med"/>
                      <a:tailEnd type="none" w="med" len="med"/>
                    </a:lnR>
                    <a:lnT w="9525" cap="flat" cmpd="sng" algn="ctr">
                      <a:solidFill>
                        <a:srgbClr val="CFC7B5"/>
                      </a:solidFill>
                      <a:prstDash val="solid"/>
                      <a:round/>
                      <a:headEnd type="none" w="med" len="med"/>
                      <a:tailEnd type="none" w="med" len="med"/>
                    </a:lnT>
                    <a:lnB w="9525" cap="flat" cmpd="sng" algn="ctr">
                      <a:solidFill>
                        <a:srgbClr val="CFC7B5"/>
                      </a:solidFill>
                      <a:prstDash val="solid"/>
                      <a:round/>
                      <a:headEnd type="none" w="med" len="med"/>
                      <a:tailEnd type="none" w="med" len="med"/>
                    </a:lnB>
                    <a:solidFill>
                      <a:srgbClr val="ECE6D8"/>
                    </a:solidFill>
                  </a:tcPr>
                </a:tc>
              </a:tr>
            </a:tbl>
          </a:graphicData>
        </a:graphic>
      </p:graphicFrame>
      <p:sp>
        <p:nvSpPr>
          <p:cNvPr id="25" name="Slide Number Placeholder 0"/>
          <p:cNvSpPr>
            <a:spLocks noGrp="1"/>
          </p:cNvSpPr>
          <p:nvPr>
            <p:ph type="sldNum" sz="quarter" idx="4294967295"/>
          </p:nvPr>
        </p:nvSpPr>
        <p:spPr>
          <a:xfrm>
            <a:off x="11064240"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latin typeface="IBM Plex Mono"/>
                <a:ea typeface="IBM Plex Mono"/>
                <a:cs typeface="IBM Plex Mon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4" type="body" hasCustomPrompt="1"/>
          </p:nvPr>
        </p:nvSpPr>
        <p:spPr>
          <a:xfrm>
            <a:off x="6858000" y="402336"/>
            <a:ext cx="4572000" cy="310896"/>
          </a:xfrm>
          <a:prstGeom prst="rect">
            <a:avLst/>
          </a:prstGeom>
          <a:noFill/>
          <a:ln/>
        </p:spPr>
        <p:txBody>
          <a:bodyPr wrap="square" lIns="0" tIns="0" rIns="0" bIns="0" rtlCol="0" anchor="ctr"/>
          <a:lstStyle/>
          <a:p>
            <a:pPr algn="r" indent="0" marL="0">
              <a:buNone/>
            </a:pPr>
            <a:r>
              <a:rPr lang="en-US" sz="1000" spc="300" kern="0" dirty="0">
                <a:solidFill>
                  <a:schemeClr val="tx2"/>
                </a:solidFill>
                <a:latin typeface="IBM Plex Mono" pitchFamily="34" charset="0"/>
                <a:ea typeface="IBM Plex Mono" pitchFamily="34" charset="-122"/>
                <a:cs typeface="IBM Plex Mono" pitchFamily="34" charset="-120"/>
              </a:rPr>
              <a:t>BACKUP</a:t>
            </a:r>
            <a:endParaRPr lang="en-US" sz="1000" dirty="0"/>
          </a:p>
        </p:txBody>
      </p:sp>
      <p:sp>
        <p:nvSpPr>
          <p:cNvPr id="3" name="Text 2"/>
          <p:cNvSpPr/>
          <p:nvPr>
            <p:ph idx="105" type="title" hasCustomPrompt="1"/>
          </p:nvPr>
        </p:nvSpPr>
        <p:spPr>
          <a:xfrm>
            <a:off x="758952" y="1078992"/>
            <a:ext cx="10671048" cy="749808"/>
          </a:xfrm>
          <a:prstGeom prst="rect">
            <a:avLst/>
          </a:prstGeom>
          <a:noFill/>
          <a:ln/>
        </p:spPr>
        <p:txBody>
          <a:bodyPr wrap="square" lIns="0" tIns="0" rIns="0" bIns="0" rtlCol="0" anchor="t"/>
          <a:lstStyle/>
          <a:p>
            <a:pPr algn="l" indent="0" marL="0">
              <a:buNone/>
            </a:pPr>
            <a:r>
              <a:rPr lang="en-US" sz="3200" b="1" dirty="0">
                <a:solidFill>
                  <a:schemeClr val="tx1"/>
                </a:solidFill>
                <a:latin typeface="Chakra Petch" pitchFamily="34" charset="0"/>
                <a:ea typeface="Chakra Petch" pitchFamily="34" charset="-122"/>
                <a:cs typeface="Chakra Petch" pitchFamily="34" charset="-120"/>
              </a:rPr>
              <a:t>How the quantum sensor works</a:t>
            </a:r>
            <a:endParaRPr lang="en-US" sz="3200" dirty="0"/>
          </a:p>
        </p:txBody>
      </p:sp>
      <p:sp>
        <p:nvSpPr>
          <p:cNvPr id="4" name="opm step 1"/>
          <p:cNvSpPr txBox="1"/>
          <p:nvPr/>
        </p:nvSpPr>
        <p:spPr>
          <a:xfrm>
            <a:off x="758952" y="2011680"/>
            <a:ext cx="1645920" cy="457200"/>
          </a:xfrm>
          <a:prstGeom prst="rect">
            <a:avLst/>
          </a:prstGeom>
          <a:noFill/>
          <a:ln/>
        </p:spPr>
        <p:txBody>
          <a:bodyPr wrap="square" lIns="0" tIns="0" rIns="0" bIns="0" rtlCol="0" anchor="t"/>
          <a:lstStyle/>
          <a:p>
            <a:pPr indent="0" marL="0">
              <a:buNone/>
            </a:pPr>
            <a:r>
              <a:rPr lang="en-US" sz="1300" b="1" spc="200" kern="0" dirty="0">
                <a:solidFill>
                  <a:schemeClr val="accent2"/>
                </a:solidFill>
                <a:latin typeface="IBM Plex Mono" pitchFamily="34" charset="0"/>
                <a:ea typeface="IBM Plex Mono" pitchFamily="34" charset="-122"/>
                <a:cs typeface="IBM Plex Mono" pitchFamily="34" charset="-120"/>
              </a:rPr>
              <a:t>PUMP</a:t>
            </a:r>
            <a:endParaRPr lang="en-US" sz="1300" dirty="0"/>
          </a:p>
        </p:txBody>
      </p:sp>
      <p:sp>
        <p:nvSpPr>
          <p:cNvPr id="5" name="opm text 1"/>
          <p:cNvSpPr txBox="1"/>
          <p:nvPr/>
        </p:nvSpPr>
        <p:spPr>
          <a:xfrm>
            <a:off x="2496312" y="2011680"/>
            <a:ext cx="4846320" cy="1051560"/>
          </a:xfrm>
          <a:prstGeom prst="rect">
            <a:avLst/>
          </a:prstGeom>
          <a:noFill/>
          <a:ln/>
        </p:spPr>
        <p:txBody>
          <a:bodyPr wrap="square" lIns="0" tIns="0" rIns="0" bIns="0" rtlCol="0" anchor="t"/>
          <a:lstStyle/>
          <a:p>
            <a:pPr indent="0" marL="0">
              <a:buNone/>
            </a:pPr>
            <a:r>
              <a:rPr lang="en-US" sz="1600" dirty="0">
                <a:solidFill>
                  <a:schemeClr val="tx1"/>
                </a:solidFill>
              </a:rPr>
              <a:t>Circularly polarised 795 nm laser light lines up the spins of rubidium atoms in a heated vapour cell.</a:t>
            </a:r>
            <a:endParaRPr lang="en-US" sz="1600" dirty="0"/>
          </a:p>
        </p:txBody>
      </p:sp>
      <p:sp>
        <p:nvSpPr>
          <p:cNvPr id="6" name="opm step 2"/>
          <p:cNvSpPr txBox="1"/>
          <p:nvPr/>
        </p:nvSpPr>
        <p:spPr>
          <a:xfrm>
            <a:off x="758952" y="3246120"/>
            <a:ext cx="1645920" cy="457200"/>
          </a:xfrm>
          <a:prstGeom prst="rect">
            <a:avLst/>
          </a:prstGeom>
          <a:noFill/>
          <a:ln/>
        </p:spPr>
        <p:txBody>
          <a:bodyPr wrap="square" lIns="0" tIns="0" rIns="0" bIns="0" rtlCol="0" anchor="t"/>
          <a:lstStyle/>
          <a:p>
            <a:pPr indent="0" marL="0">
              <a:buNone/>
            </a:pPr>
            <a:r>
              <a:rPr lang="en-US" sz="1300" b="1" spc="200" kern="0" dirty="0">
                <a:solidFill>
                  <a:schemeClr val="accent2"/>
                </a:solidFill>
                <a:latin typeface="IBM Plex Mono" pitchFamily="34" charset="0"/>
                <a:ea typeface="IBM Plex Mono" pitchFamily="34" charset="-122"/>
                <a:cs typeface="IBM Plex Mono" pitchFamily="34" charset="-120"/>
              </a:rPr>
              <a:t>PRECESS</a:t>
            </a:r>
            <a:endParaRPr lang="en-US" sz="1300" dirty="0"/>
          </a:p>
        </p:txBody>
      </p:sp>
      <p:sp>
        <p:nvSpPr>
          <p:cNvPr id="7" name="opm text 2"/>
          <p:cNvSpPr txBox="1"/>
          <p:nvPr/>
        </p:nvSpPr>
        <p:spPr>
          <a:xfrm>
            <a:off x="2496312" y="3246120"/>
            <a:ext cx="4846320" cy="1051560"/>
          </a:xfrm>
          <a:prstGeom prst="rect">
            <a:avLst/>
          </a:prstGeom>
          <a:noFill/>
          <a:ln/>
        </p:spPr>
        <p:txBody>
          <a:bodyPr wrap="square" lIns="0" tIns="0" rIns="0" bIns="0" rtlCol="0" anchor="t"/>
          <a:lstStyle/>
          <a:p>
            <a:pPr indent="0" marL="0">
              <a:buNone/>
            </a:pPr>
            <a:r>
              <a:rPr lang="en-US" sz="1600" dirty="0">
                <a:solidFill>
                  <a:schemeClr val="tx1"/>
                </a:solidFill>
              </a:rPr>
              <a:t>In the Earth's field the spins wobble around the field direction at f = γB, with γ ≈ 7 Hz per nT.</a:t>
            </a:r>
            <a:endParaRPr lang="en-US" sz="1600" dirty="0"/>
          </a:p>
        </p:txBody>
      </p:sp>
      <p:sp>
        <p:nvSpPr>
          <p:cNvPr id="8" name="opm step 3"/>
          <p:cNvSpPr txBox="1"/>
          <p:nvPr/>
        </p:nvSpPr>
        <p:spPr>
          <a:xfrm>
            <a:off x="758952" y="4480560"/>
            <a:ext cx="1645920" cy="457200"/>
          </a:xfrm>
          <a:prstGeom prst="rect">
            <a:avLst/>
          </a:prstGeom>
          <a:noFill/>
          <a:ln/>
        </p:spPr>
        <p:txBody>
          <a:bodyPr wrap="square" lIns="0" tIns="0" rIns="0" bIns="0" rtlCol="0" anchor="t"/>
          <a:lstStyle/>
          <a:p>
            <a:pPr indent="0" marL="0">
              <a:buNone/>
            </a:pPr>
            <a:r>
              <a:rPr lang="en-US" sz="1300" b="1" spc="200" kern="0" dirty="0">
                <a:solidFill>
                  <a:schemeClr val="accent2"/>
                </a:solidFill>
                <a:latin typeface="IBM Plex Mono" pitchFamily="34" charset="0"/>
                <a:ea typeface="IBM Plex Mono" pitchFamily="34" charset="-122"/>
                <a:cs typeface="IBM Plex Mono" pitchFamily="34" charset="-120"/>
              </a:rPr>
              <a:t>READ</a:t>
            </a:r>
            <a:endParaRPr lang="en-US" sz="1300" dirty="0"/>
          </a:p>
        </p:txBody>
      </p:sp>
      <p:sp>
        <p:nvSpPr>
          <p:cNvPr id="9" name="opm text 3"/>
          <p:cNvSpPr txBox="1"/>
          <p:nvPr/>
        </p:nvSpPr>
        <p:spPr>
          <a:xfrm>
            <a:off x="2496312" y="4480560"/>
            <a:ext cx="4846320" cy="1051560"/>
          </a:xfrm>
          <a:prstGeom prst="rect">
            <a:avLst/>
          </a:prstGeom>
          <a:noFill/>
          <a:ln/>
        </p:spPr>
        <p:txBody>
          <a:bodyPr wrap="square" lIns="0" tIns="0" rIns="0" bIns="0" rtlCol="0" anchor="t"/>
          <a:lstStyle/>
          <a:p>
            <a:pPr indent="0" marL="0">
              <a:buNone/>
            </a:pPr>
            <a:r>
              <a:rPr lang="en-US" sz="1600" dirty="0">
                <a:solidFill>
                  <a:schemeClr val="tx1"/>
                </a:solidFill>
              </a:rPr>
              <a:t>The light through the cell flickers at that frequency. Measure it, and |B| = f / γ.</a:t>
            </a:r>
            <a:endParaRPr lang="en-US" sz="1600" dirty="0"/>
          </a:p>
        </p:txBody>
      </p:sp>
      <p:sp>
        <p:nvSpPr>
          <p:cNvPr id="10" name="opm numbers"/>
          <p:cNvSpPr txBox="1"/>
          <p:nvPr/>
        </p:nvSpPr>
        <p:spPr>
          <a:xfrm>
            <a:off x="758952" y="5623560"/>
            <a:ext cx="6583680" cy="640080"/>
          </a:xfrm>
          <a:prstGeom prst="rect">
            <a:avLst/>
          </a:prstGeom>
          <a:noFill/>
          <a:ln/>
        </p:spPr>
        <p:txBody>
          <a:bodyPr wrap="square" lIns="0" tIns="0" rIns="0" bIns="0" rtlCol="0" anchor="t"/>
          <a:lstStyle/>
          <a:p>
            <a:pPr indent="0" marL="0">
              <a:buNone/>
            </a:pPr>
            <a:r>
              <a:rPr lang="en-US" sz="1300" dirty="0">
                <a:solidFill>
                  <a:schemeClr val="tx2"/>
                </a:solidFill>
              </a:rPr>
              <a:t>Over Ireland: 49,000 nT → 343 kHz. A 1 nT anomaly moves it by 7 Hz. It depends on the field's strength, not its direction, so tilting the drone can't fool it.</a:t>
            </a:r>
            <a:endParaRPr lang="en-US" sz="1300" dirty="0"/>
          </a:p>
        </p:txBody>
      </p:sp>
      <p:pic>
        <p:nvPicPr>
          <p:cNvPr id="11" name="Bloch sphere" descr="/tmp/claude-0/-home-claude/db79777d-d733-5547-bcd2-6143ee6bb461/scratchpad/deck/assets/emblem-full.png">    </p:cNvPr>
          <p:cNvPicPr>
            <a:picLocks noChangeAspect="1"/>
          </p:cNvPicPr>
          <p:nvPr/>
        </p:nvPicPr>
        <p:blipFill>
          <a:blip r:embed="rId1"/>
          <a:stretch>
            <a:fillRect/>
          </a:stretch>
        </p:blipFill>
        <p:spPr>
          <a:xfrm>
            <a:off x="8001000" y="1965960"/>
            <a:ext cx="3429000" cy="3429000"/>
          </a:xfrm>
          <a:prstGeom prst="rect">
            <a:avLst/>
          </a:prstGeom>
        </p:spPr>
      </p:pic>
      <p:sp>
        <p:nvSpPr>
          <p:cNvPr id="12" name="emblem caption"/>
          <p:cNvSpPr txBox="1"/>
          <p:nvPr/>
        </p:nvSpPr>
        <p:spPr>
          <a:xfrm>
            <a:off x="8001000" y="5486400"/>
            <a:ext cx="3429000" cy="457200"/>
          </a:xfrm>
          <a:prstGeom prst="rect">
            <a:avLst/>
          </a:prstGeom>
          <a:noFill/>
          <a:ln/>
        </p:spPr>
        <p:txBody>
          <a:bodyPr wrap="square" lIns="0" tIns="0" rIns="0" bIns="0" rtlCol="0" anchor="ctr"/>
          <a:lstStyle/>
          <a:p>
            <a:pPr algn="ctr" indent="0" marL="0">
              <a:buNone/>
            </a:pPr>
            <a:r>
              <a:rPr lang="en-US" sz="1200" dirty="0">
                <a:solidFill>
                  <a:schemeClr val="tx2"/>
                </a:solidFill>
              </a:rPr>
              <a:t>The Bloch sphere in our logo is the precessing spin</a:t>
            </a:r>
            <a:endParaRPr lang="en-US" sz="1200" dirty="0"/>
          </a:p>
        </p:txBody>
      </p:sp>
      <p:sp>
        <p:nvSpPr>
          <p:cNvPr id="25" name="Slide Number Placeholder 0"/>
          <p:cNvSpPr>
            <a:spLocks noGrp="1"/>
          </p:cNvSpPr>
          <p:nvPr>
            <p:ph type="sldNum" sz="quarter" idx="4294967295"/>
          </p:nvPr>
        </p:nvSpPr>
        <p:spPr>
          <a:xfrm>
            <a:off x="11064240"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latin typeface="IBM Plex Mono"/>
                <a:ea typeface="IBM Plex Mono"/>
                <a:cs typeface="IBM Plex Mon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4" type="body" hasCustomPrompt="1"/>
          </p:nvPr>
        </p:nvSpPr>
        <p:spPr>
          <a:xfrm>
            <a:off x="6858000" y="402336"/>
            <a:ext cx="4572000" cy="310896"/>
          </a:xfrm>
          <a:prstGeom prst="rect">
            <a:avLst/>
          </a:prstGeom>
          <a:noFill/>
          <a:ln/>
        </p:spPr>
        <p:txBody>
          <a:bodyPr wrap="square" lIns="0" tIns="0" rIns="0" bIns="0" rtlCol="0" anchor="ctr"/>
          <a:lstStyle/>
          <a:p>
            <a:pPr algn="r" indent="0" marL="0">
              <a:buNone/>
            </a:pPr>
            <a:r>
              <a:rPr lang="en-US" sz="1000" spc="300" kern="0" dirty="0">
                <a:solidFill>
                  <a:schemeClr val="tx2"/>
                </a:solidFill>
                <a:latin typeface="IBM Plex Mono" pitchFamily="34" charset="0"/>
                <a:ea typeface="IBM Plex Mono" pitchFamily="34" charset="-122"/>
                <a:cs typeface="IBM Plex Mono" pitchFamily="34" charset="-120"/>
              </a:rPr>
              <a:t>BACKUP</a:t>
            </a:r>
            <a:endParaRPr lang="en-US" sz="1000" dirty="0"/>
          </a:p>
        </p:txBody>
      </p:sp>
      <p:sp>
        <p:nvSpPr>
          <p:cNvPr id="3" name="Text 2"/>
          <p:cNvSpPr/>
          <p:nvPr>
            <p:ph idx="105" type="title" hasCustomPrompt="1"/>
          </p:nvPr>
        </p:nvSpPr>
        <p:spPr>
          <a:xfrm>
            <a:off x="758952" y="1078992"/>
            <a:ext cx="10671048" cy="749808"/>
          </a:xfrm>
          <a:prstGeom prst="rect">
            <a:avLst/>
          </a:prstGeom>
          <a:noFill/>
          <a:ln/>
        </p:spPr>
        <p:txBody>
          <a:bodyPr wrap="square" lIns="0" tIns="0" rIns="0" bIns="0" rtlCol="0" anchor="t"/>
          <a:lstStyle/>
          <a:p>
            <a:pPr algn="l" indent="0" marL="0">
              <a:buNone/>
            </a:pPr>
            <a:r>
              <a:rPr lang="en-US" sz="3200" b="1" dirty="0">
                <a:solidFill>
                  <a:schemeClr val="tx1"/>
                </a:solidFill>
                <a:latin typeface="Chakra Petch" pitchFamily="34" charset="0"/>
                <a:ea typeface="Chakra Petch" pitchFamily="34" charset="-122"/>
                <a:cs typeface="Chakra Petch" pitchFamily="34" charset="-120"/>
              </a:rPr>
              <a:t>Hard questions, short answers</a:t>
            </a:r>
            <a:endParaRPr lang="en-US" sz="3200" dirty="0"/>
          </a:p>
        </p:txBody>
      </p:sp>
      <p:sp>
        <p:nvSpPr>
          <p:cNvPr id="4" name="question 1"/>
          <p:cNvSpPr txBox="1"/>
          <p:nvPr/>
        </p:nvSpPr>
        <p:spPr>
          <a:xfrm>
            <a:off x="758952" y="1965960"/>
            <a:ext cx="5120640" cy="347472"/>
          </a:xfrm>
          <a:prstGeom prst="rect">
            <a:avLst/>
          </a:prstGeom>
          <a:noFill/>
          <a:ln/>
        </p:spPr>
        <p:txBody>
          <a:bodyPr wrap="square" lIns="0" tIns="0" rIns="0" bIns="0" rtlCol="0" anchor="ctr"/>
          <a:lstStyle/>
          <a:p>
            <a:pPr indent="0" marL="0">
              <a:buNone/>
            </a:pPr>
            <a:r>
              <a:rPr lang="en-US" sz="1200" b="1" dirty="0">
                <a:solidFill>
                  <a:schemeClr val="accent2"/>
                </a:solidFill>
                <a:latin typeface="IBM Plex Mono" pitchFamily="34" charset="0"/>
                <a:ea typeface="IBM Plex Mono" pitchFamily="34" charset="-122"/>
                <a:cs typeface="IBM Plex Mono" pitchFamily="34" charset="-120"/>
              </a:rPr>
              <a:t>Export control?</a:t>
            </a:r>
            <a:endParaRPr lang="en-US" sz="1200" dirty="0"/>
          </a:p>
        </p:txBody>
      </p:sp>
      <p:sp>
        <p:nvSpPr>
          <p:cNvPr id="5" name="answer 1"/>
          <p:cNvSpPr txBox="1"/>
          <p:nvPr/>
        </p:nvSpPr>
        <p:spPr>
          <a:xfrm>
            <a:off x="758952" y="2350008"/>
            <a:ext cx="5120640" cy="868680"/>
          </a:xfrm>
          <a:prstGeom prst="rect">
            <a:avLst/>
          </a:prstGeom>
          <a:noFill/>
          <a:ln/>
        </p:spPr>
        <p:txBody>
          <a:bodyPr wrap="square" lIns="0" tIns="0" rIns="0" bIns="0" rtlCol="0" anchor="t"/>
          <a:lstStyle/>
          <a:p>
            <a:pPr indent="0" marL="0">
              <a:buNone/>
            </a:pPr>
            <a:r>
              <a:rPr lang="en-US" sz="1400" dirty="0">
                <a:solidFill>
                  <a:schemeClr val="tx1"/>
                </a:solidFill>
              </a:rPr>
              <a:t>QTFM is ECCN 6A006.a.2. The derated QTFM-B (&gt;20 pT/√Hz) is 6A996.a; our sensitivity sweep tests whether it is enough.</a:t>
            </a:r>
            <a:endParaRPr lang="en-US" sz="1400" dirty="0"/>
          </a:p>
        </p:txBody>
      </p:sp>
      <p:sp>
        <p:nvSpPr>
          <p:cNvPr id="6" name="question 2"/>
          <p:cNvSpPr txBox="1"/>
          <p:nvPr/>
        </p:nvSpPr>
        <p:spPr>
          <a:xfrm>
            <a:off x="6245352" y="1965960"/>
            <a:ext cx="5120640" cy="347472"/>
          </a:xfrm>
          <a:prstGeom prst="rect">
            <a:avLst/>
          </a:prstGeom>
          <a:noFill/>
          <a:ln/>
        </p:spPr>
        <p:txBody>
          <a:bodyPr wrap="square" lIns="0" tIns="0" rIns="0" bIns="0" rtlCol="0" anchor="ctr"/>
          <a:lstStyle/>
          <a:p>
            <a:pPr indent="0" marL="0">
              <a:buNone/>
            </a:pPr>
            <a:r>
              <a:rPr lang="en-US" sz="1200" b="1" dirty="0">
                <a:solidFill>
                  <a:schemeClr val="accent2"/>
                </a:solidFill>
                <a:latin typeface="IBM Plex Mono" pitchFamily="34" charset="0"/>
                <a:ea typeface="IBM Plex Mono" pitchFamily="34" charset="-122"/>
                <a:cs typeface="IBM Plex Mono" pitchFamily="34" charset="-120"/>
              </a:rPr>
              <a:t>Outside Ireland?</a:t>
            </a:r>
            <a:endParaRPr lang="en-US" sz="1200" dirty="0"/>
          </a:p>
        </p:txBody>
      </p:sp>
      <p:sp>
        <p:nvSpPr>
          <p:cNvPr id="7" name="answer 2"/>
          <p:cNvSpPr txBox="1"/>
          <p:nvPr/>
        </p:nvSpPr>
        <p:spPr>
          <a:xfrm>
            <a:off x="6245352" y="2350008"/>
            <a:ext cx="5120640" cy="868680"/>
          </a:xfrm>
          <a:prstGeom prst="rect">
            <a:avLst/>
          </a:prstGeom>
          <a:noFill/>
          <a:ln/>
        </p:spPr>
        <p:txBody>
          <a:bodyPr wrap="square" lIns="0" tIns="0" rIns="0" bIns="0" rtlCol="0" anchor="t"/>
          <a:lstStyle/>
          <a:p>
            <a:pPr indent="0" marL="0">
              <a:buNone/>
            </a:pPr>
            <a:r>
              <a:rPr lang="en-US" sz="1400" dirty="0">
                <a:solidFill>
                  <a:schemeClr val="tx1"/>
                </a:solidFill>
              </a:rPr>
              <a:t>Any national aeromagnetic survey works; global EMAG2 covers the rest at lower resolution.</a:t>
            </a:r>
            <a:endParaRPr lang="en-US" sz="1400" dirty="0"/>
          </a:p>
        </p:txBody>
      </p:sp>
      <p:sp>
        <p:nvSpPr>
          <p:cNvPr id="8" name="question 3"/>
          <p:cNvSpPr txBox="1"/>
          <p:nvPr/>
        </p:nvSpPr>
        <p:spPr>
          <a:xfrm>
            <a:off x="758952" y="3337560"/>
            <a:ext cx="5120640" cy="347472"/>
          </a:xfrm>
          <a:prstGeom prst="rect">
            <a:avLst/>
          </a:prstGeom>
          <a:noFill/>
          <a:ln/>
        </p:spPr>
        <p:txBody>
          <a:bodyPr wrap="square" lIns="0" tIns="0" rIns="0" bIns="0" rtlCol="0" anchor="ctr"/>
          <a:lstStyle/>
          <a:p>
            <a:pPr indent="0" marL="0">
              <a:buNone/>
            </a:pPr>
            <a:r>
              <a:rPr lang="en-US" sz="1200" b="1" dirty="0">
                <a:solidFill>
                  <a:schemeClr val="accent2"/>
                </a:solidFill>
                <a:latin typeface="IBM Plex Mono" pitchFamily="34" charset="0"/>
                <a:ea typeface="IBM Plex Mono" pitchFamily="34" charset="-122"/>
                <a:cs typeface="IBM Plex Mono" pitchFamily="34" charset="-120"/>
              </a:rPr>
              <a:t>Flat geology?</a:t>
            </a:r>
            <a:endParaRPr lang="en-US" sz="1200" dirty="0"/>
          </a:p>
        </p:txBody>
      </p:sp>
      <p:sp>
        <p:nvSpPr>
          <p:cNvPr id="9" name="answer 3"/>
          <p:cNvSpPr txBox="1"/>
          <p:nvPr/>
        </p:nvSpPr>
        <p:spPr>
          <a:xfrm>
            <a:off x="758952" y="3721608"/>
            <a:ext cx="5120640" cy="868680"/>
          </a:xfrm>
          <a:prstGeom prst="rect">
            <a:avLst/>
          </a:prstGeom>
          <a:noFill/>
          <a:ln/>
        </p:spPr>
        <p:txBody>
          <a:bodyPr wrap="square" lIns="0" tIns="0" rIns="0" bIns="0" rtlCol="0" anchor="t"/>
          <a:lstStyle/>
          <a:p>
            <a:pPr indent="0" marL="0">
              <a:buNone/>
            </a:pPr>
            <a:r>
              <a:rPr lang="en-US" sz="1400" dirty="0">
                <a:solidFill>
                  <a:schemeClr val="tx1"/>
                </a:solidFill>
              </a:rPr>
              <a:t>The filter's error bar grows and it says so. Our navigability map shows where it works before you fly.</a:t>
            </a:r>
            <a:endParaRPr lang="en-US" sz="1400" dirty="0"/>
          </a:p>
        </p:txBody>
      </p:sp>
      <p:sp>
        <p:nvSpPr>
          <p:cNvPr id="10" name="question 4"/>
          <p:cNvSpPr txBox="1"/>
          <p:nvPr/>
        </p:nvSpPr>
        <p:spPr>
          <a:xfrm>
            <a:off x="6245352" y="3337560"/>
            <a:ext cx="5120640" cy="347472"/>
          </a:xfrm>
          <a:prstGeom prst="rect">
            <a:avLst/>
          </a:prstGeom>
          <a:noFill/>
          <a:ln/>
        </p:spPr>
        <p:txBody>
          <a:bodyPr wrap="square" lIns="0" tIns="0" rIns="0" bIns="0" rtlCol="0" anchor="ctr"/>
          <a:lstStyle/>
          <a:p>
            <a:pPr indent="0" marL="0">
              <a:buNone/>
            </a:pPr>
            <a:r>
              <a:rPr lang="en-US" sz="1200" b="1" dirty="0">
                <a:solidFill>
                  <a:schemeClr val="accent2"/>
                </a:solidFill>
                <a:latin typeface="IBM Plex Mono" pitchFamily="34" charset="0"/>
                <a:ea typeface="IBM Plex Mono" pitchFamily="34" charset="-122"/>
                <a:cs typeface="IBM Plex Mono" pitchFamily="34" charset="-120"/>
              </a:rPr>
              <a:t>The drone's own field?</a:t>
            </a:r>
            <a:endParaRPr lang="en-US" sz="1200" dirty="0"/>
          </a:p>
        </p:txBody>
      </p:sp>
      <p:sp>
        <p:nvSpPr>
          <p:cNvPr id="11" name="answer 4"/>
          <p:cNvSpPr txBox="1"/>
          <p:nvPr/>
        </p:nvSpPr>
        <p:spPr>
          <a:xfrm>
            <a:off x="6245352" y="3721608"/>
            <a:ext cx="5120640" cy="868680"/>
          </a:xfrm>
          <a:prstGeom prst="rect">
            <a:avLst/>
          </a:prstGeom>
          <a:noFill/>
          <a:ln/>
        </p:spPr>
        <p:txBody>
          <a:bodyPr wrap="square" lIns="0" tIns="0" rIns="0" bIns="0" rtlCol="0" anchor="t"/>
          <a:lstStyle/>
          <a:p>
            <a:pPr indent="0" marL="0">
              <a:buNone/>
            </a:pPr>
            <a:r>
              <a:rPr lang="en-US" sz="1400" dirty="0">
                <a:solidFill>
                  <a:schemeClr val="tx1"/>
                </a:solidFill>
              </a:rPr>
              <a:t>Boom distance, twisted leads, then Tolles–Lawson plus motor-current compensation, all measured on our X500.</a:t>
            </a:r>
            <a:endParaRPr lang="en-US" sz="1400" dirty="0"/>
          </a:p>
        </p:txBody>
      </p:sp>
      <p:sp>
        <p:nvSpPr>
          <p:cNvPr id="12" name="question 5"/>
          <p:cNvSpPr txBox="1"/>
          <p:nvPr/>
        </p:nvSpPr>
        <p:spPr>
          <a:xfrm>
            <a:off x="758952" y="4709160"/>
            <a:ext cx="5120640" cy="347472"/>
          </a:xfrm>
          <a:prstGeom prst="rect">
            <a:avLst/>
          </a:prstGeom>
          <a:noFill/>
          <a:ln/>
        </p:spPr>
        <p:txBody>
          <a:bodyPr wrap="square" lIns="0" tIns="0" rIns="0" bIns="0" rtlCol="0" anchor="ctr"/>
          <a:lstStyle/>
          <a:p>
            <a:pPr indent="0" marL="0">
              <a:buNone/>
            </a:pPr>
            <a:r>
              <a:rPr lang="en-US" sz="1200" b="1" dirty="0">
                <a:solidFill>
                  <a:schemeClr val="accent2"/>
                </a:solidFill>
                <a:latin typeface="IBM Plex Mono" pitchFamily="34" charset="0"/>
                <a:ea typeface="IBM Plex Mono" pitchFamily="34" charset="-122"/>
                <a:cs typeface="IBM Plex Mono" pitchFamily="34" charset="-120"/>
              </a:rPr>
              <a:t>Magnetic storms?</a:t>
            </a:r>
            <a:endParaRPr lang="en-US" sz="1200" dirty="0"/>
          </a:p>
        </p:txBody>
      </p:sp>
      <p:sp>
        <p:nvSpPr>
          <p:cNvPr id="13" name="answer 5"/>
          <p:cNvSpPr txBox="1"/>
          <p:nvPr/>
        </p:nvSpPr>
        <p:spPr>
          <a:xfrm>
            <a:off x="758952" y="5093208"/>
            <a:ext cx="5120640" cy="868680"/>
          </a:xfrm>
          <a:prstGeom prst="rect">
            <a:avLst/>
          </a:prstGeom>
          <a:noFill/>
          <a:ln/>
        </p:spPr>
        <p:txBody>
          <a:bodyPr wrap="square" lIns="0" tIns="0" rIns="0" bIns="0" rtlCol="0" anchor="t"/>
          <a:lstStyle/>
          <a:p>
            <a:pPr indent="0" marL="0">
              <a:buNone/>
            </a:pPr>
            <a:r>
              <a:rPr lang="en-US" sz="1400" dirty="0">
                <a:solidFill>
                  <a:schemeClr val="tx1"/>
                </a:solidFill>
              </a:rPr>
              <a:t>Subtract MagIE observatory data (Dunsink, Birr, Armagh, Valentia); integrity checks flag the rest.</a:t>
            </a:r>
            <a:endParaRPr lang="en-US" sz="1400" dirty="0"/>
          </a:p>
        </p:txBody>
      </p:sp>
      <p:sp>
        <p:nvSpPr>
          <p:cNvPr id="14" name="question 6"/>
          <p:cNvSpPr txBox="1"/>
          <p:nvPr/>
        </p:nvSpPr>
        <p:spPr>
          <a:xfrm>
            <a:off x="6245352" y="4709160"/>
            <a:ext cx="5120640" cy="347472"/>
          </a:xfrm>
          <a:prstGeom prst="rect">
            <a:avLst/>
          </a:prstGeom>
          <a:noFill/>
          <a:ln/>
        </p:spPr>
        <p:txBody>
          <a:bodyPr wrap="square" lIns="0" tIns="0" rIns="0" bIns="0" rtlCol="0" anchor="ctr"/>
          <a:lstStyle/>
          <a:p>
            <a:pPr indent="0" marL="0">
              <a:buNone/>
            </a:pPr>
            <a:r>
              <a:rPr lang="en-US" sz="1200" b="1" dirty="0">
                <a:solidFill>
                  <a:schemeClr val="accent2"/>
                </a:solidFill>
                <a:latin typeface="IBM Plex Mono" pitchFamily="34" charset="0"/>
                <a:ea typeface="IBM Plex Mono" pitchFamily="34" charset="-122"/>
                <a:cs typeface="IBM Plex Mono" pitchFamily="34" charset="-120"/>
              </a:rPr>
              <a:t>Cost?</a:t>
            </a:r>
            <a:endParaRPr lang="en-US" sz="1200" dirty="0"/>
          </a:p>
        </p:txBody>
      </p:sp>
      <p:sp>
        <p:nvSpPr>
          <p:cNvPr id="15" name="answer 6"/>
          <p:cNvSpPr txBox="1"/>
          <p:nvPr/>
        </p:nvSpPr>
        <p:spPr>
          <a:xfrm>
            <a:off x="6245352" y="5093208"/>
            <a:ext cx="5120640" cy="868680"/>
          </a:xfrm>
          <a:prstGeom prst="rect">
            <a:avLst/>
          </a:prstGeom>
          <a:noFill/>
          <a:ln/>
        </p:spPr>
        <p:txBody>
          <a:bodyPr wrap="square" lIns="0" tIns="0" rIns="0" bIns="0" rtlCol="0" anchor="t"/>
          <a:lstStyle/>
          <a:p>
            <a:pPr indent="0" marL="0">
              <a:buNone/>
            </a:pPr>
            <a:r>
              <a:rPr lang="en-US" sz="1400" dirty="0">
                <a:solidFill>
                  <a:schemeClr val="tx1"/>
                </a:solidFill>
              </a:rPr>
              <a:t>A gram-scale sensor and a free map, instead of a strategic-grade inertial unit.</a:t>
            </a:r>
            <a:endParaRPr lang="en-US" sz="1400" dirty="0"/>
          </a:p>
        </p:txBody>
      </p:sp>
      <p:sp>
        <p:nvSpPr>
          <p:cNvPr id="25" name="Slide Number Placeholder 0"/>
          <p:cNvSpPr>
            <a:spLocks noGrp="1"/>
          </p:cNvSpPr>
          <p:nvPr>
            <p:ph type="sldNum" sz="quarter" idx="4294967295"/>
          </p:nvPr>
        </p:nvSpPr>
        <p:spPr>
          <a:xfrm>
            <a:off x="11064240"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latin typeface="IBM Plex Mono"/>
                <a:ea typeface="IBM Plex Mono"/>
                <a:cs typeface="IBM Plex Mono"/>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Cohera">
  <a:themeElements>
    <a:clrScheme name="Cohera">
      <a:dk1>
        <a:srgbClr val="13233A"/>
      </a:dk1>
      <a:lt1>
        <a:srgbClr val="ECE6D8"/>
      </a:lt1>
      <a:dk2>
        <a:srgbClr val="39475A"/>
      </a:dk2>
      <a:lt2>
        <a:srgbClr val="E7E3DA"/>
      </a:lt2>
      <a:accent1>
        <a:srgbClr val="E9A23B"/>
      </a:accent1>
      <a:accent2>
        <a:srgbClr val="C47F17"/>
      </a:accent2>
      <a:accent3>
        <a:srgbClr val="9C3A2E"/>
      </a:accent3>
      <a:accent4>
        <a:srgbClr val="A79F8C"/>
      </a:accent4>
      <a:accent5>
        <a:srgbClr val="CFC7B5"/>
      </a:accent5>
      <a:accent6>
        <a:srgbClr val="0E1B2E"/>
      </a:accent6>
      <a:hlink>
        <a:srgbClr val="C47F17"/>
      </a:hlink>
      <a:folHlink>
        <a:srgbClr val="39475A"/>
      </a:folHlink>
    </a:clrScheme>
    <a:fontScheme name="Cohera">
      <a:majorFont>
        <a:latin typeface="Chakra Petch"/>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Team Cohera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Cohera - Quantum Navigation</dc:title>
  <dc:subject>PptxGenJS Presentation</dc:subject>
  <dc:creator>Team Cohera</dc:creator>
  <cp:lastModifiedBy>Team Cohera</cp:lastModifiedBy>
  <cp:revision>1</cp:revision>
  <dcterms:created xsi:type="dcterms:W3CDTF">2026-10-16T13:36:14Z</dcterms:created>
  <dcterms:modified xsi:type="dcterms:W3CDTF">2026-10-16T13:36:14Z</dcterms:modified>
</cp:coreProperties>
</file>